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6A7881-10C8-4E4B-9418-620324E06643}" v="50" dt="2025-11-01T23:05:15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4" autoAdjust="0"/>
    <p:restoredTop sz="94660"/>
  </p:normalViewPr>
  <p:slideViewPr>
    <p:cSldViewPr snapToGrid="0">
      <p:cViewPr>
        <p:scale>
          <a:sx n="89" d="100"/>
          <a:sy n="89" d="100"/>
        </p:scale>
        <p:origin x="318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83BFC-F24D-EED4-8BD2-898B810E7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FE3D10-DBF4-AF43-6925-AEE78B4EB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2C09F-C3A2-E54A-8305-4921E5824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F70BB-60FA-4D99-934B-D8DCFDD7202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EF28C-526B-DF20-F565-ECCC66D00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88A47-A713-1B7B-65C3-71CE6B4F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BD4DB-9E5F-4022-9725-65DAD970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23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9723D-8C21-2546-91BE-A9B8398E9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8E1E6-5198-4E26-4564-81C1FF65E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0A6CD-2AE0-FD91-A633-9C27653B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F70BB-60FA-4D99-934B-D8DCFDD7202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B7556-41DA-D60D-D39C-99543F5A2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FBF84-AA39-32A5-D5EC-6DC506F4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BD4DB-9E5F-4022-9725-65DAD970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41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6F8F3-6F55-8217-2EFA-61FBC9DA9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710CE-18E8-5C48-E908-39F87FF4E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02B66-3F34-7BC1-A1B6-43B32A17B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F70BB-60FA-4D99-934B-D8DCFDD7202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07EDB-DAFC-23C6-0E52-A8DA4DAF2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C5CE5-9A4E-09CE-2EA8-CE978360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BD4DB-9E5F-4022-9725-65DAD970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DB82-1C35-7C3B-599F-A97C9C3E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840C1-849B-406E-D2A5-8B6153DA6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93895-5A41-5BA4-7107-A53D4B40C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77DD1B-8BE3-D251-DA1C-3C79E366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F70BB-60FA-4D99-934B-D8DCFDD7202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DBF19-BC29-7C0B-B433-81F1F1CEC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97D9A0-70F1-E5B2-6F90-C464E2C31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BD4DB-9E5F-4022-9725-65DAD970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3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36AA4-D115-0C6A-8D12-22EC9B180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73328-210E-8B2B-A130-B9E436BAE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A7118-96BC-137F-336C-224BD6FE75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CBC948-A368-43F4-CAD7-8236D46BF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B34B1D-9EE6-ED22-F326-393A37F725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1B2363-D153-24AC-49DA-C594C171A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F70BB-60FA-4D99-934B-D8DCFDD7202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60998-16E2-4511-ACBA-06F4C0B29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ABBB5B-0C85-9F48-09A5-99C73B4A7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BD4DB-9E5F-4022-9725-65DAD970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5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9542C-0A1F-A728-9C14-17D25BA1B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3AC5AE-3157-35FC-09C0-60E0E9FCF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F70BB-60FA-4D99-934B-D8DCFDD7202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F03AC4-EB32-8030-A23B-B7F343F9B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29DD9C-23C9-95EB-A803-75304D30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BD4DB-9E5F-4022-9725-65DAD970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33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354E0C-4684-CAF0-9C81-6764F38DD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F70BB-60FA-4D99-934B-D8DCFDD7202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E3F78-3D26-BA64-BC8D-6739A7577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14D7A-6BE0-4820-DD0E-774F893D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BD4DB-9E5F-4022-9725-65DAD970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60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1D6DF-775E-46F3-56F7-1CB759D59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3F5B1-50E0-0B77-0A71-77DA02AF2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E28A9-1411-A147-3623-EE8179A46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B76EA-4BD2-50B7-953C-DFCC0093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F70BB-60FA-4D99-934B-D8DCFDD7202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8BFE72-C31F-910B-78AB-188CB5A71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25DB7-8D8C-D555-D66D-5E8ED75E3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BD4DB-9E5F-4022-9725-65DAD970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1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A76A0-74A2-B28E-68C9-F20E42C62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91864-2278-B14E-7C8A-6E374B61C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2DD47-8B1A-C791-DE8B-373912DF58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D94C9-6066-E514-2A80-A040E901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F70BB-60FA-4D99-934B-D8DCFDD7202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7895D-418D-2050-FAEE-BD71E92FB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F6A64-F6DB-DAAB-1CB7-120A03E6C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BD4DB-9E5F-4022-9725-65DAD970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58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704FD-9245-51F2-5271-C1CD423C0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501CF-61CE-3F5F-FC3E-2B0CBBE30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55151-A543-43F3-EB49-92CCF441D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F70BB-60FA-4D99-934B-D8DCFDD7202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C83DF-DC35-DC86-78B3-CA1E499A3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A70FE-F524-ACA7-3D53-E8D6AF23E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BD4DB-9E5F-4022-9725-65DAD970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6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45399A-3CBB-D5D6-1DC9-75319E18C9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463FE-CAA0-762E-8EA7-20BE67F942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4BD1F-DE9A-E563-58E9-747D32A34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F70BB-60FA-4D99-934B-D8DCFDD7202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6C6A3-06F0-08DC-3CE1-1DC70BAEC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6BFB0-0A4F-4E62-751A-9A73B80E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BD4DB-9E5F-4022-9725-65DAD970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8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003662-7C99-CD13-A9A6-407ED67A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75326-DE46-C293-6142-31D846F0A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4368D-7CC0-7536-F2F8-398C844A3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F70BB-60FA-4D99-934B-D8DCFDD72022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26837-E314-1BAA-5BA5-D589A679E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2F519-F54E-C7AD-6A47-40C4EC5197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BD4DB-9E5F-4022-9725-65DAD970A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13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76451-736E-F459-B295-4035D6B139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SQL -PROJECT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2BC68-FA3A-BBC3-96EF-2CF63757A3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Logistics Optimization for Delivery Routes – Amazon </a:t>
            </a:r>
          </a:p>
        </p:txBody>
      </p:sp>
    </p:spTree>
    <p:extLst>
      <p:ext uri="{BB962C8B-B14F-4D97-AF65-F5344CB8AC3E}">
        <p14:creationId xmlns:p14="http://schemas.microsoft.com/office/powerpoint/2010/main" val="3790969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81FCF-BB98-BD03-5E27-A1ECDEF0A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1-Data Cleaning &amp;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DC25C-EB5C-9F43-ADF8-73F14ADAB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SUBTASK A</a:t>
            </a:r>
          </a:p>
          <a:p>
            <a:r>
              <a:rPr lang="en-US" sz="2000" dirty="0"/>
              <a:t>Identify and delete duplicate </a:t>
            </a:r>
            <a:r>
              <a:rPr lang="en-US" sz="2000" dirty="0" err="1"/>
              <a:t>Order_ID</a:t>
            </a:r>
            <a:r>
              <a:rPr lang="en-US" sz="2000" dirty="0"/>
              <a:t> records.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Create view new as</a:t>
            </a:r>
          </a:p>
          <a:p>
            <a:pPr marL="0" indent="0">
              <a:buNone/>
            </a:pPr>
            <a:r>
              <a:rPr lang="en-US" sz="1800" dirty="0"/>
              <a:t>            (Select </a:t>
            </a:r>
            <a:r>
              <a:rPr lang="en-US" sz="1800" dirty="0" err="1"/>
              <a:t>Order_ID</a:t>
            </a:r>
            <a:r>
              <a:rPr lang="en-US" sz="1800" dirty="0"/>
              <a:t>, </a:t>
            </a:r>
            <a:r>
              <a:rPr lang="en-US" sz="1800" dirty="0" err="1"/>
              <a:t>Row_Number</a:t>
            </a:r>
            <a:r>
              <a:rPr lang="en-US" sz="1800" dirty="0"/>
              <a:t>() Over (Partition BY </a:t>
            </a:r>
            <a:r>
              <a:rPr lang="en-US" sz="1800" dirty="0" err="1"/>
              <a:t>Order_ID</a:t>
            </a:r>
            <a:r>
              <a:rPr lang="en-US" sz="1800" dirty="0"/>
              <a:t>) as </a:t>
            </a:r>
            <a:r>
              <a:rPr lang="en-US" sz="1800" dirty="0" err="1"/>
              <a:t>rn</a:t>
            </a:r>
            <a:r>
              <a:rPr lang="en-US" sz="1800" dirty="0"/>
              <a:t> from orders);</a:t>
            </a:r>
          </a:p>
          <a:p>
            <a:pPr marL="0" indent="0">
              <a:buNone/>
            </a:pPr>
            <a:r>
              <a:rPr lang="en-US" sz="1800" dirty="0"/>
              <a:t>             Select * from new;</a:t>
            </a:r>
          </a:p>
          <a:p>
            <a:pPr marL="0" indent="0">
              <a:buNone/>
            </a:pPr>
            <a:r>
              <a:rPr lang="en-US" sz="1800" dirty="0"/>
              <a:t>DELETE FROM </a:t>
            </a:r>
            <a:r>
              <a:rPr lang="en-US" sz="1800" dirty="0" err="1"/>
              <a:t>ordersWHERE</a:t>
            </a:r>
            <a:r>
              <a:rPr lang="en-US" sz="1800" dirty="0"/>
              <a:t> </a:t>
            </a:r>
            <a:r>
              <a:rPr lang="en-US" sz="1800" dirty="0" err="1"/>
              <a:t>Order_ID</a:t>
            </a:r>
            <a:r>
              <a:rPr lang="en-US" sz="1800" dirty="0"/>
              <a:t> IN ( SELECT </a:t>
            </a:r>
            <a:r>
              <a:rPr lang="en-US" sz="1800" dirty="0" err="1"/>
              <a:t>Order_ID</a:t>
            </a:r>
            <a:r>
              <a:rPr lang="en-US" sz="1800" dirty="0"/>
              <a:t> FROM new WHERE </a:t>
            </a:r>
            <a:r>
              <a:rPr lang="en-US" sz="1800" dirty="0" err="1"/>
              <a:t>rn</a:t>
            </a:r>
            <a:r>
              <a:rPr lang="en-US" sz="1800" dirty="0"/>
              <a:t> &gt; 1);</a:t>
            </a:r>
          </a:p>
        </p:txBody>
      </p:sp>
    </p:spTree>
    <p:extLst>
      <p:ext uri="{BB962C8B-B14F-4D97-AF65-F5344CB8AC3E}">
        <p14:creationId xmlns:p14="http://schemas.microsoft.com/office/powerpoint/2010/main" val="1394678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FA1D7-840D-135D-9420-7716AE3A4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SUBTASK B</a:t>
            </a:r>
          </a:p>
          <a:p>
            <a:r>
              <a:rPr lang="en-US" sz="2000" dirty="0"/>
              <a:t>Replace null </a:t>
            </a:r>
            <a:r>
              <a:rPr lang="en-US" sz="2000" dirty="0" err="1"/>
              <a:t>Traffic_Delay_Min</a:t>
            </a:r>
            <a:r>
              <a:rPr lang="en-US" sz="2000" dirty="0"/>
              <a:t> with the average delay for that route.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Select* from routes;</a:t>
            </a:r>
          </a:p>
          <a:p>
            <a:pPr marL="0" indent="0">
              <a:buNone/>
            </a:pPr>
            <a:r>
              <a:rPr lang="en-US" sz="1800" dirty="0"/>
              <a:t>Select </a:t>
            </a:r>
            <a:r>
              <a:rPr lang="en-US" sz="1800" dirty="0" err="1"/>
              <a:t>Traffic_Delay_Min</a:t>
            </a:r>
            <a:r>
              <a:rPr lang="en-US" sz="1800" dirty="0"/>
              <a:t> from routes where </a:t>
            </a:r>
            <a:r>
              <a:rPr lang="en-US" sz="1800" dirty="0" err="1"/>
              <a:t>Traffic_Delay_Min</a:t>
            </a:r>
            <a:r>
              <a:rPr lang="en-US" sz="1800" dirty="0"/>
              <a:t> IS NULL;</a:t>
            </a:r>
          </a:p>
          <a:p>
            <a:pPr marL="0" indent="0">
              <a:buNone/>
            </a:pPr>
            <a:r>
              <a:rPr lang="en-US" sz="1800" dirty="0"/>
              <a:t>SET @avg_delay := (    SELECT AVG(</a:t>
            </a:r>
            <a:r>
              <a:rPr lang="en-US" sz="1800" dirty="0" err="1"/>
              <a:t>Traffic_Delay_Min</a:t>
            </a:r>
            <a:r>
              <a:rPr lang="en-US" sz="1800" dirty="0"/>
              <a:t>)     FROM routes  WHERE  </a:t>
            </a:r>
            <a:r>
              <a:rPr lang="en-US" sz="1800" dirty="0" err="1"/>
              <a:t>Traffic_Delay_Min</a:t>
            </a:r>
            <a:r>
              <a:rPr lang="en-US" sz="1800" dirty="0"/>
              <a:t> IS NOT NULL);</a:t>
            </a:r>
          </a:p>
          <a:p>
            <a:pPr marL="0" indent="0">
              <a:buNone/>
            </a:pPr>
            <a:r>
              <a:rPr lang="en-US" sz="1800" dirty="0"/>
              <a:t>UPDATE routes  </a:t>
            </a:r>
          </a:p>
          <a:p>
            <a:pPr marL="0" indent="0">
              <a:buNone/>
            </a:pPr>
            <a:r>
              <a:rPr lang="en-US" sz="1800" dirty="0"/>
              <a:t>SET </a:t>
            </a:r>
            <a:r>
              <a:rPr lang="en-US" sz="1800" dirty="0" err="1"/>
              <a:t>Traffic_Delay_Min</a:t>
            </a:r>
            <a:r>
              <a:rPr lang="en-US" sz="1800" dirty="0"/>
              <a:t> = @avg_delay WHERE </a:t>
            </a:r>
            <a:r>
              <a:rPr lang="en-US" sz="1800" dirty="0" err="1"/>
              <a:t>Traffic_Delay_Min</a:t>
            </a:r>
            <a:r>
              <a:rPr lang="en-US" sz="1800" dirty="0"/>
              <a:t> IS NULL;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FC9729-588A-0B21-BDFA-9B4D88FC7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/>
              <a:t>Task 1-Data Cleaning &amp; Preparation</a:t>
            </a:r>
          </a:p>
        </p:txBody>
      </p:sp>
    </p:spTree>
    <p:extLst>
      <p:ext uri="{BB962C8B-B14F-4D97-AF65-F5344CB8AC3E}">
        <p14:creationId xmlns:p14="http://schemas.microsoft.com/office/powerpoint/2010/main" val="3386740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3FFAD-BCE8-4C99-CBDC-4225DF0CE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SUBTASK C</a:t>
            </a:r>
          </a:p>
          <a:p>
            <a:r>
              <a:rPr lang="en-US" sz="2000" dirty="0"/>
              <a:t>Convert all date columns into YYYY-MM-DD format using SQL functions. </a:t>
            </a:r>
            <a:endParaRPr lang="en-US" sz="20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Update orders</a:t>
            </a:r>
          </a:p>
          <a:p>
            <a:pPr marL="0" indent="0">
              <a:buNone/>
            </a:pPr>
            <a:r>
              <a:rPr lang="en-US" sz="1800" dirty="0"/>
              <a:t>SET </a:t>
            </a:r>
            <a:r>
              <a:rPr lang="en-US" sz="1800" dirty="0" err="1"/>
              <a:t>Order_Date</a:t>
            </a:r>
            <a:r>
              <a:rPr lang="en-US" sz="1800" dirty="0"/>
              <a:t>= </a:t>
            </a:r>
            <a:r>
              <a:rPr lang="en-US" sz="1800" dirty="0" err="1"/>
              <a:t>date_format</a:t>
            </a:r>
            <a:r>
              <a:rPr lang="en-US" sz="1800" dirty="0"/>
              <a:t>(</a:t>
            </a:r>
            <a:r>
              <a:rPr lang="en-US" sz="1800" dirty="0" err="1"/>
              <a:t>Order_Date</a:t>
            </a:r>
            <a:r>
              <a:rPr lang="en-US" sz="1800" dirty="0"/>
              <a:t>, '%Y-%m-%d'), </a:t>
            </a:r>
            <a:r>
              <a:rPr lang="en-US" sz="1800" dirty="0" err="1"/>
              <a:t>Expected_Delivery_Date</a:t>
            </a:r>
            <a:r>
              <a:rPr lang="en-US" sz="1800" dirty="0"/>
              <a:t> = </a:t>
            </a:r>
            <a:r>
              <a:rPr lang="en-US" sz="1800" dirty="0" err="1"/>
              <a:t>date_format</a:t>
            </a:r>
            <a:r>
              <a:rPr lang="en-US" sz="1800" dirty="0"/>
              <a:t>(</a:t>
            </a:r>
            <a:r>
              <a:rPr lang="en-US" sz="1800" dirty="0" err="1"/>
              <a:t>Expected_Delivery_Date</a:t>
            </a:r>
            <a:r>
              <a:rPr lang="en-US" sz="1800" dirty="0"/>
              <a:t>, '%Y-%m-%d'),</a:t>
            </a:r>
            <a:r>
              <a:rPr lang="en-US" sz="1800" dirty="0" err="1"/>
              <a:t>Actual_Delivery_Date</a:t>
            </a:r>
            <a:r>
              <a:rPr lang="en-US" sz="1800" dirty="0"/>
              <a:t> = </a:t>
            </a:r>
            <a:r>
              <a:rPr lang="en-US" sz="1800" dirty="0" err="1"/>
              <a:t>date_format</a:t>
            </a:r>
            <a:r>
              <a:rPr lang="en-US" sz="1800" dirty="0"/>
              <a:t>(</a:t>
            </a:r>
            <a:r>
              <a:rPr lang="en-US" sz="1800" dirty="0" err="1"/>
              <a:t>Actual_Delivery_Date</a:t>
            </a:r>
            <a:r>
              <a:rPr lang="en-US" sz="1800" dirty="0"/>
              <a:t>, '%Y-%m-%d’);</a:t>
            </a:r>
          </a:p>
          <a:p>
            <a:pPr marL="0" indent="0">
              <a:buNone/>
            </a:pPr>
            <a:r>
              <a:rPr lang="en-US" sz="1800" dirty="0"/>
              <a:t>Update </a:t>
            </a:r>
            <a:r>
              <a:rPr lang="en-US" sz="1800" dirty="0" err="1"/>
              <a:t>shipmenttrackingtable</a:t>
            </a:r>
            <a:r>
              <a:rPr lang="en-US" sz="1800" dirty="0"/>
              <a:t> SET </a:t>
            </a:r>
            <a:r>
              <a:rPr lang="en-US" sz="1800" dirty="0" err="1"/>
              <a:t>Checkpoint_Time</a:t>
            </a:r>
            <a:r>
              <a:rPr lang="en-US" sz="1800" dirty="0"/>
              <a:t>= </a:t>
            </a:r>
            <a:r>
              <a:rPr lang="en-US" sz="1800" dirty="0" err="1"/>
              <a:t>date_format</a:t>
            </a:r>
            <a:r>
              <a:rPr lang="en-US" sz="1800" dirty="0"/>
              <a:t>(</a:t>
            </a:r>
            <a:r>
              <a:rPr lang="en-US" sz="1800" dirty="0" err="1"/>
              <a:t>Checkpoint_Time</a:t>
            </a:r>
            <a:r>
              <a:rPr lang="en-US" sz="1800" dirty="0"/>
              <a:t>, '%Y-%m-%d');Select * from orders;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361F98-ED1F-4FC7-15AE-4BE810FC9D20}"/>
              </a:ext>
            </a:extLst>
          </p:cNvPr>
          <p:cNvSpPr txBox="1">
            <a:spLocks/>
          </p:cNvSpPr>
          <p:nvPr/>
        </p:nvSpPr>
        <p:spPr>
          <a:xfrm>
            <a:off x="838200" y="3924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1-Data Cleaning &amp; Preparation</a:t>
            </a:r>
          </a:p>
        </p:txBody>
      </p:sp>
    </p:spTree>
    <p:extLst>
      <p:ext uri="{BB962C8B-B14F-4D97-AF65-F5344CB8AC3E}">
        <p14:creationId xmlns:p14="http://schemas.microsoft.com/office/powerpoint/2010/main" val="2417007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2904D-75BB-4C58-1079-5ED1A4BAD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SUBTASK D</a:t>
            </a:r>
          </a:p>
          <a:p>
            <a:r>
              <a:rPr lang="en-US" sz="1800" dirty="0"/>
              <a:t>Ensure that no </a:t>
            </a:r>
            <a:r>
              <a:rPr lang="en-US" sz="1800" dirty="0" err="1"/>
              <a:t>Actual_Delivery_Date</a:t>
            </a:r>
            <a:r>
              <a:rPr lang="en-US" sz="1800" dirty="0"/>
              <a:t> is before </a:t>
            </a:r>
            <a:r>
              <a:rPr lang="en-US" sz="1800" dirty="0" err="1"/>
              <a:t>Order_Date</a:t>
            </a:r>
            <a:r>
              <a:rPr lang="en-US" sz="1800" dirty="0"/>
              <a:t> (flag such records). </a:t>
            </a:r>
            <a:endParaRPr lang="en-US" sz="18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ALTER TABLE orders </a:t>
            </a:r>
          </a:p>
          <a:p>
            <a:pPr marL="0" indent="0">
              <a:buNone/>
            </a:pPr>
            <a:r>
              <a:rPr lang="en-US" sz="1800" dirty="0"/>
              <a:t>ADD COLUMN DATA_FLAG varchar(20);</a:t>
            </a:r>
          </a:p>
          <a:p>
            <a:pPr marL="0" indent="0">
              <a:buNone/>
            </a:pPr>
            <a:r>
              <a:rPr lang="en-US" sz="1800" dirty="0"/>
              <a:t>UPDATE ORDERS SET DATA_FLAG=case when </a:t>
            </a:r>
            <a:r>
              <a:rPr lang="en-US" sz="1800" dirty="0" err="1"/>
              <a:t>Actual_delivery_date</a:t>
            </a:r>
            <a:r>
              <a:rPr lang="en-US" sz="1800" dirty="0"/>
              <a:t> &gt; </a:t>
            </a:r>
            <a:r>
              <a:rPr lang="en-US" sz="1800" dirty="0" err="1"/>
              <a:t>Order_Date</a:t>
            </a:r>
            <a:r>
              <a:rPr lang="en-US" sz="1800" dirty="0"/>
              <a:t> then 'Date valid’ else 'Date invalid’ end;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C12DFF-3E0E-08BC-E3BB-4679141E03F7}"/>
              </a:ext>
            </a:extLst>
          </p:cNvPr>
          <p:cNvSpPr txBox="1">
            <a:spLocks/>
          </p:cNvSpPr>
          <p:nvPr/>
        </p:nvSpPr>
        <p:spPr>
          <a:xfrm>
            <a:off x="838200" y="39248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1-Data Cleaning &amp; Preparation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4A899F-A06A-CC8A-1F82-B0FCC5C2C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548" y="681037"/>
            <a:ext cx="2496080" cy="347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09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E398F-7E71-1B08-69D5-04C0C5EBC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04" y="1416191"/>
            <a:ext cx="5043984" cy="4834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SUBTASK A</a:t>
            </a:r>
          </a:p>
          <a:p>
            <a:r>
              <a:rPr lang="en-US" sz="2000" dirty="0"/>
              <a:t>Calculate delivery delay (in days) for each order</a:t>
            </a:r>
            <a:endParaRPr lang="en-US" sz="2000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ALTER TABLE orders</a:t>
            </a:r>
          </a:p>
          <a:p>
            <a:pPr marL="0" indent="0">
              <a:buNone/>
            </a:pPr>
            <a:r>
              <a:rPr lang="en-US" sz="1800" dirty="0"/>
              <a:t> ADD COLUMN </a:t>
            </a:r>
            <a:r>
              <a:rPr lang="en-US" sz="1800" dirty="0" err="1"/>
              <a:t>Delivery_delay</a:t>
            </a:r>
            <a:r>
              <a:rPr lang="en-US" sz="1800" dirty="0"/>
              <a:t> int; </a:t>
            </a:r>
          </a:p>
          <a:p>
            <a:pPr marL="0" indent="0">
              <a:buNone/>
            </a:pPr>
            <a:r>
              <a:rPr lang="en-US" sz="1800" dirty="0"/>
              <a:t>UPDATE orders</a:t>
            </a:r>
          </a:p>
          <a:p>
            <a:pPr marL="0" indent="0">
              <a:buNone/>
            </a:pPr>
            <a:r>
              <a:rPr lang="en-US" sz="1800" dirty="0"/>
              <a:t>SET </a:t>
            </a:r>
            <a:r>
              <a:rPr lang="en-US" sz="1800" dirty="0" err="1"/>
              <a:t>Delivery_delay</a:t>
            </a:r>
            <a:r>
              <a:rPr lang="en-US" sz="1800" dirty="0"/>
              <a:t> = </a:t>
            </a:r>
            <a:r>
              <a:rPr lang="en-US" sz="1800" dirty="0" err="1"/>
              <a:t>datediff</a:t>
            </a:r>
            <a:r>
              <a:rPr lang="en-US" sz="1800" dirty="0"/>
              <a:t>(</a:t>
            </a:r>
            <a:r>
              <a:rPr lang="en-US" sz="1800" dirty="0" err="1"/>
              <a:t>Actual_Delivery_Date</a:t>
            </a:r>
            <a:r>
              <a:rPr lang="en-US" sz="1800" dirty="0"/>
              <a:t>, </a:t>
            </a:r>
            <a:r>
              <a:rPr lang="en-US" sz="1800" dirty="0" err="1"/>
              <a:t>Expected_Delivery_Date</a:t>
            </a:r>
            <a:r>
              <a:rPr lang="en-US" sz="1800" dirty="0"/>
              <a:t>);</a:t>
            </a:r>
          </a:p>
          <a:p>
            <a:pPr marL="0" indent="0">
              <a:buNone/>
            </a:pPr>
            <a:r>
              <a:rPr lang="en-US" sz="1800" dirty="0"/>
              <a:t>Select* from orders;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2E525D-9311-60EB-9152-EB9444F2F6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2-Delivery Delay Analysis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81B350-F0DC-5C65-998B-A9CBF036A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613" y="2357889"/>
            <a:ext cx="78338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24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2A8C56-9BAA-C603-2073-0546D4085117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2-Delivery Delay Analysis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1BBF35-4F4E-D1DA-8AD0-F0294740951D}"/>
              </a:ext>
            </a:extLst>
          </p:cNvPr>
          <p:cNvSpPr txBox="1">
            <a:spLocks/>
          </p:cNvSpPr>
          <p:nvPr/>
        </p:nvSpPr>
        <p:spPr>
          <a:xfrm>
            <a:off x="210404" y="1416191"/>
            <a:ext cx="4184175" cy="4834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B</a:t>
            </a:r>
          </a:p>
          <a:p>
            <a:r>
              <a:rPr lang="en-US" sz="2000" dirty="0"/>
              <a:t>Find Top 10 delayed routes based on average delay days.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2000" dirty="0"/>
              <a:t>Select </a:t>
            </a:r>
            <a:r>
              <a:rPr lang="en-US" sz="2000" dirty="0" err="1"/>
              <a:t>Route_ID</a:t>
            </a:r>
            <a:r>
              <a:rPr lang="en-US" sz="2000" dirty="0"/>
              <a:t>, avg(</a:t>
            </a:r>
            <a:r>
              <a:rPr lang="en-US" sz="2000" dirty="0" err="1"/>
              <a:t>Delivery_delay</a:t>
            </a:r>
            <a:r>
              <a:rPr lang="en-US" sz="2000" dirty="0"/>
              <a:t>) as </a:t>
            </a:r>
            <a:r>
              <a:rPr lang="en-US" sz="2000" dirty="0" err="1"/>
              <a:t>Delivery_Delay_avg</a:t>
            </a:r>
            <a:r>
              <a:rPr lang="en-US" sz="2000" dirty="0"/>
              <a:t>  from orders </a:t>
            </a:r>
          </a:p>
          <a:p>
            <a:pPr marL="0" indent="0">
              <a:buNone/>
            </a:pPr>
            <a:r>
              <a:rPr lang="en-US" sz="2000" dirty="0"/>
              <a:t>group by </a:t>
            </a:r>
            <a:r>
              <a:rPr lang="en-US" sz="2000" dirty="0" err="1"/>
              <a:t>Route_ID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order by </a:t>
            </a:r>
            <a:r>
              <a:rPr lang="en-US" sz="2000" dirty="0" err="1"/>
              <a:t>Delivery_Delay_avg</a:t>
            </a:r>
            <a:r>
              <a:rPr lang="en-US" sz="2000" dirty="0"/>
              <a:t> desc limit 10 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D498EC-3163-89BA-318F-DCCD9848F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579" y="1337534"/>
            <a:ext cx="7450539" cy="517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400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608E2C-4990-C693-43B4-02D2B7A80274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2-Delivery Delay Analysis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A8D852-457D-D082-DDC7-D19F89812391}"/>
              </a:ext>
            </a:extLst>
          </p:cNvPr>
          <p:cNvSpPr txBox="1">
            <a:spLocks/>
          </p:cNvSpPr>
          <p:nvPr/>
        </p:nvSpPr>
        <p:spPr>
          <a:xfrm>
            <a:off x="210404" y="1416191"/>
            <a:ext cx="10292839" cy="4834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C</a:t>
            </a:r>
          </a:p>
          <a:p>
            <a:r>
              <a:rPr lang="en-US" sz="2000" dirty="0"/>
              <a:t>Use window functions to rank all orders by delay within each warehouse.</a:t>
            </a:r>
            <a:endParaRPr lang="en-US" sz="20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 </a:t>
            </a:r>
            <a:r>
              <a:rPr lang="en-US" sz="1800" dirty="0" err="1"/>
              <a:t>Warehouse_ID</a:t>
            </a:r>
            <a:r>
              <a:rPr lang="en-US" sz="1800" dirty="0"/>
              <a:t>, </a:t>
            </a:r>
            <a:r>
              <a:rPr lang="en-US" sz="1800" dirty="0" err="1"/>
              <a:t>Order_ID</a:t>
            </a:r>
            <a:r>
              <a:rPr lang="en-US" sz="1800" dirty="0"/>
              <a:t>, </a:t>
            </a:r>
            <a:r>
              <a:rPr lang="en-US" sz="1800" dirty="0" err="1"/>
              <a:t>Delivery_delay</a:t>
            </a:r>
            <a:r>
              <a:rPr lang="en-US" sz="1800" dirty="0"/>
              <a:t>, </a:t>
            </a:r>
          </a:p>
          <a:p>
            <a:pPr marL="0" indent="0">
              <a:buNone/>
            </a:pPr>
            <a:r>
              <a:rPr lang="en-US" sz="1800" dirty="0"/>
              <a:t>Rank() OVER (partition by </a:t>
            </a:r>
            <a:r>
              <a:rPr lang="en-US" sz="1800" dirty="0" err="1"/>
              <a:t>Warehouse_ID</a:t>
            </a:r>
            <a:r>
              <a:rPr lang="en-US" sz="1800" dirty="0"/>
              <a:t> order by </a:t>
            </a:r>
            <a:r>
              <a:rPr lang="en-US" sz="1800" dirty="0" err="1"/>
              <a:t>Delivery_delay</a:t>
            </a:r>
            <a:r>
              <a:rPr lang="en-US" sz="1800" dirty="0"/>
              <a:t> desc) </a:t>
            </a:r>
          </a:p>
          <a:p>
            <a:pPr marL="0" indent="0">
              <a:buNone/>
            </a:pPr>
            <a:r>
              <a:rPr lang="en-US" sz="1800" dirty="0"/>
              <a:t>as </a:t>
            </a:r>
            <a:r>
              <a:rPr lang="en-US" sz="1800" dirty="0" err="1"/>
              <a:t>Delay_rank</a:t>
            </a:r>
            <a:r>
              <a:rPr lang="en-US" sz="1800" dirty="0"/>
              <a:t> from orders;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6D2B4-29B5-E854-45EE-35C087D96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219" y="2234774"/>
            <a:ext cx="3511149" cy="390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71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85D7F6-560A-4760-AC02-B27FAB87D19A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3-Route </a:t>
            </a:r>
            <a:r>
              <a:rPr lang="en-US" b="1" dirty="0" err="1"/>
              <a:t>Optimisation</a:t>
            </a:r>
            <a:r>
              <a:rPr lang="en-US" b="1" dirty="0"/>
              <a:t> Insights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D94435E-D55D-D7CB-B443-64EA002423D0}"/>
              </a:ext>
            </a:extLst>
          </p:cNvPr>
          <p:cNvSpPr txBox="1">
            <a:spLocks/>
          </p:cNvSpPr>
          <p:nvPr/>
        </p:nvSpPr>
        <p:spPr>
          <a:xfrm>
            <a:off x="210404" y="1416191"/>
            <a:ext cx="7734992" cy="4834483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200" b="1" dirty="0"/>
              <a:t>SUBTASK A</a:t>
            </a:r>
          </a:p>
          <a:p>
            <a:pPr marL="0" indent="0">
              <a:buNone/>
            </a:pPr>
            <a:r>
              <a:rPr lang="en-US" sz="3800" dirty="0"/>
              <a:t>For each route, calculate: </a:t>
            </a:r>
          </a:p>
          <a:p>
            <a:r>
              <a:rPr lang="en-US" sz="3800" dirty="0"/>
              <a:t>Average delivery time (in days). </a:t>
            </a:r>
          </a:p>
          <a:p>
            <a:r>
              <a:rPr lang="en-US" sz="3800" dirty="0"/>
              <a:t>Average traffic delay.</a:t>
            </a:r>
          </a:p>
          <a:p>
            <a:r>
              <a:rPr lang="en-US" sz="3800" dirty="0"/>
              <a:t>Distance-to-time efficiency ratio: </a:t>
            </a:r>
            <a:r>
              <a:rPr lang="en-US" sz="3800" dirty="0" err="1"/>
              <a:t>Distance_KM</a:t>
            </a:r>
            <a:r>
              <a:rPr lang="en-US" sz="3800" dirty="0"/>
              <a:t> / </a:t>
            </a:r>
            <a:r>
              <a:rPr lang="en-US" sz="3800" dirty="0" err="1"/>
              <a:t>Average_Travel_Time_Min</a:t>
            </a:r>
            <a:r>
              <a:rPr lang="en-US" sz="3800" dirty="0"/>
              <a:t>. </a:t>
            </a:r>
            <a:endParaRPr lang="en-US" sz="38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4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4200" b="1" dirty="0"/>
              <a:t>SQL QUERY</a:t>
            </a:r>
          </a:p>
          <a:p>
            <a:pPr marL="0" indent="0">
              <a:buNone/>
            </a:pPr>
            <a:r>
              <a:rPr lang="en-US" sz="2900" dirty="0"/>
              <a:t>ALTER TABLE routes</a:t>
            </a:r>
          </a:p>
          <a:p>
            <a:pPr marL="0" indent="0">
              <a:buNone/>
            </a:pPr>
            <a:r>
              <a:rPr lang="en-US" sz="2900" dirty="0"/>
              <a:t>ADD COLUMN </a:t>
            </a:r>
            <a:r>
              <a:rPr lang="en-US" sz="2900" dirty="0" err="1"/>
              <a:t>Distance_to_time_efficiency_ratio</a:t>
            </a:r>
            <a:r>
              <a:rPr lang="en-US" sz="2900" dirty="0"/>
              <a:t> </a:t>
            </a:r>
            <a:r>
              <a:rPr lang="en-US" sz="2900" dirty="0" err="1"/>
              <a:t>float;Update</a:t>
            </a:r>
            <a:r>
              <a:rPr lang="en-US" sz="2900" dirty="0"/>
              <a:t> routes</a:t>
            </a:r>
          </a:p>
          <a:p>
            <a:pPr marL="0" indent="0">
              <a:buNone/>
            </a:pPr>
            <a:r>
              <a:rPr lang="en-US" sz="2900" dirty="0"/>
              <a:t>SET </a:t>
            </a:r>
            <a:r>
              <a:rPr lang="en-US" sz="2900" dirty="0" err="1"/>
              <a:t>Distance_to_time_efficiency_ratio</a:t>
            </a:r>
            <a:r>
              <a:rPr lang="en-US" sz="2900" dirty="0"/>
              <a:t> = (</a:t>
            </a:r>
            <a:r>
              <a:rPr lang="en-US" sz="2900" dirty="0" err="1"/>
              <a:t>Distance_KM</a:t>
            </a:r>
            <a:r>
              <a:rPr lang="en-US" sz="2900" dirty="0"/>
              <a:t>)/(</a:t>
            </a:r>
            <a:r>
              <a:rPr lang="en-US" sz="2900" dirty="0" err="1"/>
              <a:t>Average_Travel_Time_Min</a:t>
            </a:r>
            <a:r>
              <a:rPr lang="en-US" sz="2900" dirty="0"/>
              <a:t>);</a:t>
            </a:r>
          </a:p>
          <a:p>
            <a:pPr marL="0" indent="0">
              <a:buNone/>
            </a:pPr>
            <a:r>
              <a:rPr lang="en-US" sz="2900" dirty="0"/>
              <a:t>Create view averages as</a:t>
            </a:r>
          </a:p>
          <a:p>
            <a:pPr marL="0" indent="0">
              <a:buNone/>
            </a:pPr>
            <a:r>
              <a:rPr lang="en-US" sz="2900" dirty="0"/>
              <a:t> SELECT     </a:t>
            </a:r>
            <a:r>
              <a:rPr lang="en-US" sz="2900" dirty="0" err="1"/>
              <a:t>o.Route_ID</a:t>
            </a:r>
            <a:r>
              <a:rPr lang="en-US" sz="2900" dirty="0"/>
              <a:t>,    ROUND(AVG(</a:t>
            </a:r>
            <a:r>
              <a:rPr lang="en-US" sz="2900" dirty="0" err="1"/>
              <a:t>o.Delivery_delay</a:t>
            </a:r>
            <a:r>
              <a:rPr lang="en-US" sz="2900" dirty="0"/>
              <a:t>), 2) AS </a:t>
            </a:r>
            <a:r>
              <a:rPr lang="en-US" sz="2900" dirty="0" err="1"/>
              <a:t>Avg_Delivery_Time_Days</a:t>
            </a:r>
            <a:r>
              <a:rPr lang="en-US" sz="2900" dirty="0"/>
              <a:t>,    </a:t>
            </a:r>
          </a:p>
          <a:p>
            <a:pPr marL="0" indent="0">
              <a:buNone/>
            </a:pPr>
            <a:r>
              <a:rPr lang="en-US" sz="2900" dirty="0"/>
              <a:t>ROUND(AVG(</a:t>
            </a:r>
            <a:r>
              <a:rPr lang="en-US" sz="2900" dirty="0" err="1"/>
              <a:t>r.Traffic_Delay_Min</a:t>
            </a:r>
            <a:r>
              <a:rPr lang="en-US" sz="2900" dirty="0"/>
              <a:t>), 1) AS </a:t>
            </a:r>
            <a:r>
              <a:rPr lang="en-US" sz="2900" dirty="0" err="1"/>
              <a:t>Avg_Traffic_Delay_Min</a:t>
            </a:r>
            <a:r>
              <a:rPr lang="en-US" sz="2900" dirty="0"/>
              <a:t>,    </a:t>
            </a:r>
          </a:p>
          <a:p>
            <a:pPr marL="0" indent="0">
              <a:buNone/>
            </a:pPr>
            <a:r>
              <a:rPr lang="en-US" sz="2900" dirty="0"/>
              <a:t>ROUND(AVG(</a:t>
            </a:r>
            <a:r>
              <a:rPr lang="en-US" sz="2900" dirty="0" err="1"/>
              <a:t>r.Distance_to_time_efficiency_ratio</a:t>
            </a:r>
            <a:r>
              <a:rPr lang="en-US" sz="2900" dirty="0"/>
              <a:t>),1) AS </a:t>
            </a:r>
            <a:r>
              <a:rPr lang="en-US" sz="2900" dirty="0" err="1"/>
              <a:t>AVG_Distance_to_time_efficiency_ratioFROM</a:t>
            </a:r>
            <a:r>
              <a:rPr lang="en-US" sz="2900" dirty="0"/>
              <a:t> orders o</a:t>
            </a:r>
          </a:p>
          <a:p>
            <a:pPr marL="0" indent="0">
              <a:buNone/>
            </a:pPr>
            <a:r>
              <a:rPr lang="en-US" sz="2900" dirty="0"/>
              <a:t>JOIN routes r     ON </a:t>
            </a:r>
            <a:r>
              <a:rPr lang="en-US" sz="2900" dirty="0" err="1"/>
              <a:t>o.Route_ID</a:t>
            </a:r>
            <a:r>
              <a:rPr lang="en-US" sz="2900" dirty="0"/>
              <a:t> = </a:t>
            </a:r>
            <a:r>
              <a:rPr lang="en-US" sz="2900" dirty="0" err="1"/>
              <a:t>r.Route_ID</a:t>
            </a:r>
            <a:r>
              <a:rPr lang="en-US" sz="2900" dirty="0"/>
              <a:t> </a:t>
            </a:r>
          </a:p>
          <a:p>
            <a:pPr marL="0" indent="0">
              <a:buNone/>
            </a:pPr>
            <a:r>
              <a:rPr lang="en-US" sz="2900" dirty="0"/>
              <a:t>GROUP BY </a:t>
            </a:r>
            <a:r>
              <a:rPr lang="en-US" sz="2900" dirty="0" err="1"/>
              <a:t>o.Route_ID</a:t>
            </a:r>
            <a:endParaRPr lang="en-US" sz="2900" dirty="0"/>
          </a:p>
          <a:p>
            <a:pPr marL="0" indent="0">
              <a:buNone/>
            </a:pPr>
            <a:r>
              <a:rPr lang="en-US" sz="2900" dirty="0"/>
              <a:t>ORDER BY </a:t>
            </a:r>
            <a:r>
              <a:rPr lang="en-US" sz="2900" dirty="0" err="1"/>
              <a:t>Avg_Delivery_Time_Days</a:t>
            </a:r>
            <a:r>
              <a:rPr lang="en-US" sz="2900" dirty="0"/>
              <a:t> </a:t>
            </a:r>
            <a:r>
              <a:rPr lang="en-US" sz="2900" dirty="0" err="1"/>
              <a:t>DESC;Select</a:t>
            </a:r>
            <a:r>
              <a:rPr lang="en-US" sz="2900" dirty="0"/>
              <a:t>* from averages;</a:t>
            </a:r>
          </a:p>
        </p:txBody>
      </p:sp>
    </p:spTree>
    <p:extLst>
      <p:ext uri="{BB962C8B-B14F-4D97-AF65-F5344CB8AC3E}">
        <p14:creationId xmlns:p14="http://schemas.microsoft.com/office/powerpoint/2010/main" val="289346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874C8-8AF2-D49B-0EC9-D052AAA4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FBBC3-0157-0381-03E2-42087ED9C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BA4CFE-83FA-7B80-C7EF-4FD17D733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5" y="365125"/>
            <a:ext cx="10845209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98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33C1C01-2E13-A94C-2983-31FAABED8958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3-Route </a:t>
            </a:r>
            <a:r>
              <a:rPr lang="en-US" b="1" dirty="0" err="1"/>
              <a:t>Optimisation</a:t>
            </a:r>
            <a:r>
              <a:rPr lang="en-US" b="1" dirty="0"/>
              <a:t> Insights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5B9583-22F7-8272-EBE7-C7476F6D9778}"/>
              </a:ext>
            </a:extLst>
          </p:cNvPr>
          <p:cNvSpPr txBox="1">
            <a:spLocks/>
          </p:cNvSpPr>
          <p:nvPr/>
        </p:nvSpPr>
        <p:spPr>
          <a:xfrm>
            <a:off x="210404" y="1416191"/>
            <a:ext cx="6363588" cy="4834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B</a:t>
            </a:r>
          </a:p>
          <a:p>
            <a:r>
              <a:rPr lang="en-US" sz="3800" dirty="0"/>
              <a:t> </a:t>
            </a:r>
            <a:r>
              <a:rPr lang="en-US" sz="2000" dirty="0"/>
              <a:t>Identify 3 routes with the worst efficiency ratio. </a:t>
            </a:r>
            <a:endParaRPr lang="en-US" sz="2000" b="1" dirty="0"/>
          </a:p>
          <a:p>
            <a:pPr marL="0" indent="0">
              <a:buFont typeface="Arial" panose="020B0604020202020204" pitchFamily="34" charset="0"/>
              <a:buNone/>
            </a:pPr>
            <a:endParaRPr lang="en-US" sz="4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 </a:t>
            </a:r>
            <a:r>
              <a:rPr lang="en-US" sz="1800" dirty="0" err="1"/>
              <a:t>Route_ID</a:t>
            </a:r>
            <a:r>
              <a:rPr lang="en-US" sz="1800" dirty="0"/>
              <a:t>, </a:t>
            </a:r>
            <a:r>
              <a:rPr lang="en-US" sz="1800" dirty="0" err="1"/>
              <a:t>AVG_Distance_to_time_efficiency_ratio</a:t>
            </a:r>
            <a:r>
              <a:rPr lang="en-US" sz="1800" dirty="0"/>
              <a:t> as   </a:t>
            </a:r>
          </a:p>
          <a:p>
            <a:pPr marL="0" indent="0">
              <a:buNone/>
            </a:pPr>
            <a:r>
              <a:rPr lang="en-US" sz="1800" dirty="0" err="1"/>
              <a:t>Routes_with_worst_efficiency_ratio</a:t>
            </a:r>
            <a:r>
              <a:rPr lang="en-US" sz="1800" dirty="0"/>
              <a:t> from averages</a:t>
            </a:r>
          </a:p>
          <a:p>
            <a:pPr marL="0" indent="0">
              <a:buNone/>
            </a:pPr>
            <a:r>
              <a:rPr lang="en-US" sz="1800" dirty="0"/>
              <a:t>order by </a:t>
            </a:r>
            <a:r>
              <a:rPr lang="en-US" sz="1800" dirty="0" err="1"/>
              <a:t>AVG_Distance_to_time_efficiency_ratio</a:t>
            </a:r>
            <a:r>
              <a:rPr lang="en-US" sz="1800" dirty="0"/>
              <a:t> limit 3;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99A5A3-4DA7-9E51-7154-2A4B042E8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561" y="2873165"/>
            <a:ext cx="5859439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34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45F460-7FAB-7605-B55A-74D5E0A82E92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3-Route </a:t>
            </a:r>
            <a:r>
              <a:rPr lang="en-US" b="1" dirty="0" err="1"/>
              <a:t>Optimisation</a:t>
            </a:r>
            <a:r>
              <a:rPr lang="en-US" b="1" dirty="0"/>
              <a:t> Insights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31D6551-16A1-FA9C-208A-9CD8ECCCBCCF}"/>
              </a:ext>
            </a:extLst>
          </p:cNvPr>
          <p:cNvSpPr txBox="1">
            <a:spLocks/>
          </p:cNvSpPr>
          <p:nvPr/>
        </p:nvSpPr>
        <p:spPr>
          <a:xfrm>
            <a:off x="210404" y="1416191"/>
            <a:ext cx="6363588" cy="4834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C</a:t>
            </a:r>
          </a:p>
          <a:p>
            <a:r>
              <a:rPr lang="en-US" sz="3800" dirty="0"/>
              <a:t> </a:t>
            </a:r>
            <a:r>
              <a:rPr lang="en-US" sz="2000" dirty="0"/>
              <a:t>Find routes with &gt;20% delayed shipments. </a:t>
            </a:r>
            <a:endParaRPr lang="en-US" sz="4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 </a:t>
            </a:r>
            <a:r>
              <a:rPr lang="en-US" sz="1800" dirty="0" err="1"/>
              <a:t>Route_ID</a:t>
            </a:r>
            <a:r>
              <a:rPr lang="en-US" sz="1800" dirty="0"/>
              <a:t>, count(*) as </a:t>
            </a:r>
            <a:r>
              <a:rPr lang="en-US" sz="1800" dirty="0" err="1"/>
              <a:t>number_of_shipments</a:t>
            </a:r>
            <a:r>
              <a:rPr lang="en-US" sz="1800" dirty="0"/>
              <a:t>, </a:t>
            </a:r>
          </a:p>
          <a:p>
            <a:pPr marL="0" indent="0">
              <a:buNone/>
            </a:pPr>
            <a:r>
              <a:rPr lang="en-US" sz="1800" dirty="0"/>
              <a:t>SUM( CASE WHEN </a:t>
            </a:r>
            <a:r>
              <a:rPr lang="en-US" sz="1800" dirty="0" err="1"/>
              <a:t>Delay_Reason</a:t>
            </a:r>
            <a:r>
              <a:rPr lang="en-US" sz="1800" dirty="0"/>
              <a:t>= 'None' THEN 0 ELSE 1 END) AS </a:t>
            </a:r>
            <a:r>
              <a:rPr lang="en-US" sz="1800" dirty="0" err="1"/>
              <a:t>Number_of_delays</a:t>
            </a:r>
            <a:r>
              <a:rPr lang="en-US" sz="1800" dirty="0"/>
              <a:t>, </a:t>
            </a:r>
          </a:p>
          <a:p>
            <a:pPr marL="0" indent="0">
              <a:buNone/>
            </a:pPr>
            <a:r>
              <a:rPr lang="en-US" sz="1800" dirty="0"/>
              <a:t>ROUND(SUM( CASE WHEN </a:t>
            </a:r>
            <a:r>
              <a:rPr lang="en-US" sz="1800" dirty="0" err="1"/>
              <a:t>Delay_Reason</a:t>
            </a:r>
            <a:r>
              <a:rPr lang="en-US" sz="1800" dirty="0"/>
              <a:t>= 'None' THEN 0 ELSE 1 END)*100/count(*),2) AS </a:t>
            </a:r>
            <a:r>
              <a:rPr lang="en-US" sz="1800" dirty="0" err="1"/>
              <a:t>Delay_Percentage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from </a:t>
            </a:r>
            <a:r>
              <a:rPr lang="en-US" sz="1800" dirty="0" err="1"/>
              <a:t>newtable</a:t>
            </a:r>
            <a:r>
              <a:rPr lang="en-US" sz="1800" dirty="0"/>
              <a:t> GROUP BY </a:t>
            </a:r>
            <a:r>
              <a:rPr lang="en-US" sz="1800" dirty="0" err="1"/>
              <a:t>Route_ID</a:t>
            </a:r>
            <a:r>
              <a:rPr lang="en-US" sz="1800" dirty="0"/>
              <a:t> HAVING </a:t>
            </a:r>
            <a:r>
              <a:rPr lang="en-US" sz="1800" dirty="0" err="1"/>
              <a:t>Delay_Percentage</a:t>
            </a:r>
            <a:r>
              <a:rPr lang="en-US" sz="1800" dirty="0"/>
              <a:t>&gt; 20;</a:t>
            </a:r>
          </a:p>
        </p:txBody>
      </p:sp>
    </p:spTree>
    <p:extLst>
      <p:ext uri="{BB962C8B-B14F-4D97-AF65-F5344CB8AC3E}">
        <p14:creationId xmlns:p14="http://schemas.microsoft.com/office/powerpoint/2010/main" val="3152666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92120-BC46-94E1-5501-CA7EB904D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FF11C-FB60-AC25-6491-C14251173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F1AAE8-6CA2-FD97-197E-7719FBB16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10515600" cy="6176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39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52FE729-3F91-8FC2-CD7A-754C04F83490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3-Route </a:t>
            </a:r>
            <a:r>
              <a:rPr lang="en-US" b="1" dirty="0" err="1"/>
              <a:t>Optimisation</a:t>
            </a:r>
            <a:r>
              <a:rPr lang="en-US" b="1" dirty="0"/>
              <a:t> Insights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14646A-DE45-ACD6-E564-849FC0EBBCFE}"/>
              </a:ext>
            </a:extLst>
          </p:cNvPr>
          <p:cNvSpPr txBox="1">
            <a:spLocks/>
          </p:cNvSpPr>
          <p:nvPr/>
        </p:nvSpPr>
        <p:spPr>
          <a:xfrm>
            <a:off x="210404" y="1416191"/>
            <a:ext cx="6363588" cy="4834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D</a:t>
            </a:r>
          </a:p>
          <a:p>
            <a:r>
              <a:rPr lang="en-US" sz="3800" dirty="0"/>
              <a:t> </a:t>
            </a:r>
            <a:r>
              <a:rPr lang="en-US" sz="1800" dirty="0"/>
              <a:t>Recommend potential routes for optimization</a:t>
            </a:r>
            <a:endParaRPr lang="en-US" sz="18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 </a:t>
            </a:r>
            <a:r>
              <a:rPr lang="en-US" sz="1800" dirty="0" err="1"/>
              <a:t>Route_ID,number_of_shipments</a:t>
            </a:r>
            <a:r>
              <a:rPr lang="en-US" sz="1800" dirty="0"/>
              <a:t>, </a:t>
            </a:r>
          </a:p>
          <a:p>
            <a:pPr marL="0" indent="0">
              <a:buNone/>
            </a:pPr>
            <a:r>
              <a:rPr lang="en-US" sz="1800" dirty="0" err="1"/>
              <a:t>Number_of_delays,Delay_Percentage</a:t>
            </a:r>
            <a:r>
              <a:rPr lang="en-US" sz="1800" dirty="0"/>
              <a:t>, </a:t>
            </a:r>
          </a:p>
          <a:p>
            <a:pPr marL="0" indent="0">
              <a:buNone/>
            </a:pPr>
            <a:r>
              <a:rPr lang="en-US" sz="1800" dirty="0" err="1"/>
              <a:t>dense_rank</a:t>
            </a:r>
            <a:r>
              <a:rPr lang="en-US" sz="1800" dirty="0"/>
              <a:t>() OVER (ORDER BY </a:t>
            </a:r>
            <a:r>
              <a:rPr lang="en-US" sz="1800" dirty="0" err="1"/>
              <a:t>Number_of_delays</a:t>
            </a:r>
            <a:r>
              <a:rPr lang="en-US" sz="1800" dirty="0"/>
              <a:t> DESC, </a:t>
            </a:r>
          </a:p>
          <a:p>
            <a:pPr marL="0" indent="0">
              <a:buNone/>
            </a:pPr>
            <a:r>
              <a:rPr lang="en-US" sz="1800" dirty="0" err="1"/>
              <a:t>Delay_Percentage</a:t>
            </a:r>
            <a:r>
              <a:rPr lang="en-US" sz="1800" dirty="0"/>
              <a:t> DESC) AS </a:t>
            </a:r>
            <a:r>
              <a:rPr lang="en-US" sz="1800" dirty="0" err="1"/>
              <a:t>optimization_priority</a:t>
            </a:r>
            <a:r>
              <a:rPr lang="en-US" sz="1800" dirty="0"/>
              <a:t> from delays;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FBD5B2-E3C0-1C40-7533-96DB5A94C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779" y="1589940"/>
            <a:ext cx="4486045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18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76A7A7-910D-DE1E-4007-CD3CED837653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4-Warehouse Performance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8CD5CC-2577-F6A0-4880-E9705AB29111}"/>
              </a:ext>
            </a:extLst>
          </p:cNvPr>
          <p:cNvSpPr txBox="1">
            <a:spLocks/>
          </p:cNvSpPr>
          <p:nvPr/>
        </p:nvSpPr>
        <p:spPr>
          <a:xfrm>
            <a:off x="210404" y="1416191"/>
            <a:ext cx="6363588" cy="4834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A</a:t>
            </a:r>
          </a:p>
          <a:p>
            <a:r>
              <a:rPr lang="en-US" sz="1800" dirty="0"/>
              <a:t>Find the top 3 warehouses with the highest average processing time.</a:t>
            </a:r>
            <a:endParaRPr lang="en-US" sz="18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  </a:t>
            </a:r>
            <a:r>
              <a:rPr lang="en-US" sz="1800" dirty="0" err="1"/>
              <a:t>w.Warehouse_ID</a:t>
            </a:r>
            <a:r>
              <a:rPr lang="en-US" sz="1800" dirty="0"/>
              <a:t>, </a:t>
            </a:r>
          </a:p>
          <a:p>
            <a:pPr marL="0" indent="0">
              <a:buNone/>
            </a:pPr>
            <a:r>
              <a:rPr lang="en-US" sz="1800" dirty="0"/>
              <a:t>ROUND(avg(</a:t>
            </a:r>
            <a:r>
              <a:rPr lang="en-US" sz="1800" dirty="0" err="1"/>
              <a:t>w.Processing_Time_Min</a:t>
            </a:r>
            <a:r>
              <a:rPr lang="en-US" sz="1800" dirty="0"/>
              <a:t>),0) as </a:t>
            </a:r>
            <a:r>
              <a:rPr lang="en-US" sz="1800" dirty="0" err="1"/>
              <a:t>Average_Processing_time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from orders o JOIN Warehouses w ON </a:t>
            </a:r>
            <a:r>
              <a:rPr lang="en-US" sz="1800" dirty="0" err="1"/>
              <a:t>o.Warehouse_ID</a:t>
            </a:r>
            <a:r>
              <a:rPr lang="en-US" sz="1800" dirty="0"/>
              <a:t> = </a:t>
            </a:r>
            <a:r>
              <a:rPr lang="en-US" sz="1800" dirty="0" err="1"/>
              <a:t>w.Warehouse_ID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GROUP BY </a:t>
            </a:r>
            <a:r>
              <a:rPr lang="en-US" sz="1800" dirty="0" err="1"/>
              <a:t>Warehouse_ID</a:t>
            </a:r>
            <a:r>
              <a:rPr lang="en-US" sz="1800" dirty="0"/>
              <a:t> ORDER BY </a:t>
            </a:r>
            <a:r>
              <a:rPr lang="en-US" sz="1800" dirty="0" err="1"/>
              <a:t>Average_Processing_time</a:t>
            </a:r>
            <a:r>
              <a:rPr lang="en-US" sz="1800" dirty="0"/>
              <a:t> DESC Limit 3;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3829CE-21BB-833B-D0D6-13525EB59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732" y="2743200"/>
            <a:ext cx="3448531" cy="1871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878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D6C66D8-905E-A838-A1EC-9987BA3E5975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4-Warehouse Performance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DE993F-EE99-9C3A-BAB2-D3F463B57E4C}"/>
              </a:ext>
            </a:extLst>
          </p:cNvPr>
          <p:cNvSpPr txBox="1">
            <a:spLocks/>
          </p:cNvSpPr>
          <p:nvPr/>
        </p:nvSpPr>
        <p:spPr>
          <a:xfrm>
            <a:off x="210403" y="1416191"/>
            <a:ext cx="4307005" cy="4834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B</a:t>
            </a:r>
          </a:p>
          <a:p>
            <a:r>
              <a:rPr lang="en-US" sz="1800" dirty="0"/>
              <a:t>Calculate total vs. delayed shipments for each warehouse. </a:t>
            </a:r>
          </a:p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 SUM( </a:t>
            </a:r>
            <a:r>
              <a:rPr lang="en-US" sz="1800" dirty="0" err="1"/>
              <a:t>d.number_of_shipments</a:t>
            </a:r>
            <a:r>
              <a:rPr lang="en-US" sz="1800" dirty="0"/>
              <a:t>) as </a:t>
            </a:r>
            <a:r>
              <a:rPr lang="en-US" sz="1800" dirty="0" err="1"/>
              <a:t>Total_shipments</a:t>
            </a:r>
            <a:r>
              <a:rPr lang="en-US" sz="1800" dirty="0"/>
              <a:t>, </a:t>
            </a:r>
          </a:p>
          <a:p>
            <a:pPr marL="0" indent="0">
              <a:buNone/>
            </a:pPr>
            <a:r>
              <a:rPr lang="en-US" sz="1800" dirty="0"/>
              <a:t>SUM(</a:t>
            </a:r>
            <a:r>
              <a:rPr lang="en-US" sz="1800" dirty="0" err="1"/>
              <a:t>d.Number_of_delayS</a:t>
            </a:r>
            <a:r>
              <a:rPr lang="en-US" sz="1800" dirty="0"/>
              <a:t>) as </a:t>
            </a:r>
            <a:r>
              <a:rPr lang="en-US" sz="1800" dirty="0" err="1"/>
              <a:t>Delayed_shipments</a:t>
            </a:r>
            <a:r>
              <a:rPr lang="en-US" sz="1800" dirty="0"/>
              <a:t>, </a:t>
            </a:r>
          </a:p>
          <a:p>
            <a:pPr marL="0" indent="0">
              <a:buNone/>
            </a:pPr>
            <a:r>
              <a:rPr lang="en-US" sz="1800" dirty="0" err="1"/>
              <a:t>o.Warehouse_ID</a:t>
            </a:r>
            <a:r>
              <a:rPr lang="en-US" sz="1800" dirty="0"/>
              <a:t> from delays d join </a:t>
            </a:r>
          </a:p>
          <a:p>
            <a:pPr marL="0" indent="0">
              <a:buNone/>
            </a:pPr>
            <a:r>
              <a:rPr lang="en-US" sz="1800" dirty="0"/>
              <a:t>orders o </a:t>
            </a:r>
          </a:p>
          <a:p>
            <a:pPr marL="0" indent="0">
              <a:buNone/>
            </a:pPr>
            <a:r>
              <a:rPr lang="en-US" sz="1800" dirty="0"/>
              <a:t>ON </a:t>
            </a:r>
            <a:r>
              <a:rPr lang="en-US" sz="1800" dirty="0" err="1"/>
              <a:t>d.Route_ID</a:t>
            </a:r>
            <a:r>
              <a:rPr lang="en-US" sz="1800" dirty="0"/>
              <a:t> = </a:t>
            </a:r>
            <a:r>
              <a:rPr lang="en-US" sz="1800" dirty="0" err="1"/>
              <a:t>O.Route_ID</a:t>
            </a:r>
            <a:r>
              <a:rPr lang="en-US" sz="1800" dirty="0"/>
              <a:t> group by </a:t>
            </a:r>
            <a:r>
              <a:rPr lang="en-US" sz="1800" dirty="0" err="1"/>
              <a:t>Warehouse_ID</a:t>
            </a:r>
            <a:r>
              <a:rPr lang="en-US" sz="1800" dirty="0"/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D352C8-31B8-2450-5855-25F3BA781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408" y="2568298"/>
            <a:ext cx="7464187" cy="402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87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099DA4-E969-69D0-D034-F89212DC4ED2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4-Warehouse Performance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9689579-746F-16AA-61FD-7BFF8992489C}"/>
              </a:ext>
            </a:extLst>
          </p:cNvPr>
          <p:cNvSpPr txBox="1">
            <a:spLocks/>
          </p:cNvSpPr>
          <p:nvPr/>
        </p:nvSpPr>
        <p:spPr>
          <a:xfrm>
            <a:off x="210403" y="1416191"/>
            <a:ext cx="6244988" cy="4834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C</a:t>
            </a:r>
          </a:p>
          <a:p>
            <a:r>
              <a:rPr lang="en-US" sz="1800" dirty="0"/>
              <a:t>Use CTEs to find bottleneck warehouses where processing time &gt; global average.</a:t>
            </a:r>
          </a:p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SET @avg_processing_time= (Select </a:t>
            </a:r>
          </a:p>
          <a:p>
            <a:pPr marL="0" indent="0">
              <a:buNone/>
            </a:pPr>
            <a:r>
              <a:rPr lang="en-US" sz="1800" dirty="0"/>
              <a:t>avg(</a:t>
            </a:r>
            <a:r>
              <a:rPr lang="en-US" sz="1800" dirty="0" err="1"/>
              <a:t>Processing_Time_Min</a:t>
            </a:r>
            <a:r>
              <a:rPr lang="en-US" sz="1800" dirty="0"/>
              <a:t>) from warehouses);</a:t>
            </a:r>
          </a:p>
          <a:p>
            <a:pPr marL="0" indent="0">
              <a:buNone/>
            </a:pPr>
            <a:r>
              <a:rPr lang="en-US" sz="1800" dirty="0"/>
              <a:t>WITH </a:t>
            </a:r>
            <a:r>
              <a:rPr lang="en-US" sz="1800" dirty="0" err="1"/>
              <a:t>bottleneck_warehouses</a:t>
            </a:r>
            <a:r>
              <a:rPr lang="en-US" sz="1800" dirty="0"/>
              <a:t> AS(Select </a:t>
            </a:r>
            <a:r>
              <a:rPr lang="en-US" sz="1800" dirty="0" err="1"/>
              <a:t>Warehouse_ID</a:t>
            </a:r>
            <a:r>
              <a:rPr lang="en-US" sz="1800" dirty="0"/>
              <a:t> as </a:t>
            </a:r>
            <a:r>
              <a:rPr lang="en-US" sz="1800" dirty="0" err="1"/>
              <a:t>bottleneck_warehouses</a:t>
            </a:r>
            <a:r>
              <a:rPr lang="en-US" sz="1800" dirty="0"/>
              <a:t>, </a:t>
            </a:r>
          </a:p>
          <a:p>
            <a:pPr marL="0" indent="0">
              <a:buNone/>
            </a:pPr>
            <a:r>
              <a:rPr lang="en-US" sz="1800" dirty="0" err="1"/>
              <a:t>Processing_Time_Min</a:t>
            </a:r>
            <a:r>
              <a:rPr lang="en-US" sz="1800" dirty="0"/>
              <a:t> from warehouses where </a:t>
            </a:r>
            <a:r>
              <a:rPr lang="en-US" sz="1800" dirty="0" err="1"/>
              <a:t>Processing_Time_Min</a:t>
            </a:r>
            <a:r>
              <a:rPr lang="en-US" sz="1800" dirty="0"/>
              <a:t> &gt; @avg_processing_time)</a:t>
            </a:r>
          </a:p>
          <a:p>
            <a:pPr marL="0" indent="0">
              <a:buNone/>
            </a:pPr>
            <a:r>
              <a:rPr lang="en-US" sz="1800" dirty="0"/>
              <a:t>Select* from </a:t>
            </a:r>
            <a:r>
              <a:rPr lang="en-US" sz="1800" dirty="0" err="1"/>
              <a:t>bottleneck_warehouses</a:t>
            </a:r>
            <a:r>
              <a:rPr lang="en-US" sz="1800" dirty="0"/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600FDF-8BFD-75AA-9EDF-003B57395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314" y="2595008"/>
            <a:ext cx="3867690" cy="301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720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4798B7-3BCE-8943-BD92-6D04B5E1C2E6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4-Warehouse Performance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9D8003-71E1-8055-D159-E98778101342}"/>
              </a:ext>
            </a:extLst>
          </p:cNvPr>
          <p:cNvSpPr txBox="1">
            <a:spLocks/>
          </p:cNvSpPr>
          <p:nvPr/>
        </p:nvSpPr>
        <p:spPr>
          <a:xfrm>
            <a:off x="210403" y="1416191"/>
            <a:ext cx="6244988" cy="4834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D</a:t>
            </a:r>
          </a:p>
          <a:p>
            <a:r>
              <a:rPr lang="en-US" sz="1800" dirty="0"/>
              <a:t>Rank warehouses based on on-time delivery percentage.</a:t>
            </a:r>
          </a:p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 *,Rank() OVER (ORDER BY </a:t>
            </a:r>
          </a:p>
          <a:p>
            <a:pPr marL="0" indent="0">
              <a:buNone/>
            </a:pPr>
            <a:r>
              <a:rPr lang="en-US" sz="1800" dirty="0" err="1"/>
              <a:t>Ontime_delivery_percentage</a:t>
            </a:r>
            <a:r>
              <a:rPr lang="en-US" sz="1800" dirty="0"/>
              <a:t> DESC) as ranking </a:t>
            </a:r>
          </a:p>
          <a:p>
            <a:pPr marL="0" indent="0">
              <a:buNone/>
            </a:pPr>
            <a:r>
              <a:rPr lang="en-US" sz="1800" dirty="0"/>
              <a:t>From (SELECT     </a:t>
            </a:r>
            <a:r>
              <a:rPr lang="en-US" sz="1800" dirty="0" err="1"/>
              <a:t>Warehouse_ID</a:t>
            </a:r>
            <a:r>
              <a:rPr lang="en-US" sz="1800" dirty="0"/>
              <a:t>,   SUM(CASE WHEN </a:t>
            </a:r>
          </a:p>
          <a:p>
            <a:pPr marL="0" indent="0">
              <a:buNone/>
            </a:pPr>
            <a:r>
              <a:rPr lang="en-US" sz="1800" dirty="0" err="1"/>
              <a:t>Delivery_Status</a:t>
            </a:r>
            <a:r>
              <a:rPr lang="en-US" sz="1800" dirty="0"/>
              <a:t> = 'On Time' THEN 1 ELSE 0 END) AS </a:t>
            </a:r>
          </a:p>
          <a:p>
            <a:pPr marL="0" indent="0">
              <a:buNone/>
            </a:pPr>
            <a:r>
              <a:rPr lang="en-US" sz="1800" dirty="0" err="1"/>
              <a:t>Ontime_deliveries</a:t>
            </a:r>
            <a:r>
              <a:rPr lang="en-US" sz="1800" dirty="0"/>
              <a:t>,    COUNT(*) AS </a:t>
            </a:r>
            <a:r>
              <a:rPr lang="en-US" sz="1800" dirty="0" err="1"/>
              <a:t>Total_deliveries</a:t>
            </a:r>
            <a:r>
              <a:rPr lang="en-US" sz="1800" dirty="0"/>
              <a:t>,    ROUND(        </a:t>
            </a:r>
          </a:p>
          <a:p>
            <a:pPr marL="0" indent="0">
              <a:buNone/>
            </a:pPr>
            <a:r>
              <a:rPr lang="en-US" sz="1800" dirty="0"/>
              <a:t>SUM(CASE WHEN </a:t>
            </a:r>
            <a:r>
              <a:rPr lang="en-US" sz="1800" dirty="0" err="1"/>
              <a:t>Delivery_Status</a:t>
            </a:r>
            <a:r>
              <a:rPr lang="en-US" sz="1800" dirty="0"/>
              <a:t> = 'On Time' THEN 1 ELSE 0 </a:t>
            </a:r>
          </a:p>
          <a:p>
            <a:pPr marL="0" indent="0">
              <a:buNone/>
            </a:pPr>
            <a:r>
              <a:rPr lang="en-US" sz="1800" dirty="0"/>
              <a:t>END) * 100.0 / COUNT(*),        2 ) AS </a:t>
            </a:r>
          </a:p>
          <a:p>
            <a:pPr marL="0" indent="0">
              <a:buNone/>
            </a:pPr>
            <a:r>
              <a:rPr lang="en-US" sz="1800" dirty="0" err="1"/>
              <a:t>Ontime_delivery_percentage</a:t>
            </a:r>
            <a:r>
              <a:rPr lang="en-US" sz="1800" dirty="0"/>
              <a:t>    FROM </a:t>
            </a:r>
            <a:r>
              <a:rPr lang="en-US" sz="1800" dirty="0" err="1"/>
              <a:t>ordersGROUP</a:t>
            </a:r>
            <a:r>
              <a:rPr lang="en-US" sz="1800" dirty="0"/>
              <a:t> BY </a:t>
            </a:r>
            <a:r>
              <a:rPr lang="en-US" sz="1800" dirty="0" err="1"/>
              <a:t>Warehouse_ID</a:t>
            </a:r>
            <a:r>
              <a:rPr lang="en-US" sz="1800" dirty="0"/>
              <a:t>) AS aggregation;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2BA581-D22A-A923-4D02-DE38E33A9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722" y="1856096"/>
            <a:ext cx="2940282" cy="439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87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C9B9B75-612F-36FE-D12B-3A5F8DBE7F38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5-DELIVERY AGENT PERFORMANCE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4CEDCEF-DAA3-2FC4-A150-D8CEAFC0F795}"/>
              </a:ext>
            </a:extLst>
          </p:cNvPr>
          <p:cNvSpPr txBox="1">
            <a:spLocks/>
          </p:cNvSpPr>
          <p:nvPr/>
        </p:nvSpPr>
        <p:spPr>
          <a:xfrm>
            <a:off x="210403" y="1416191"/>
            <a:ext cx="6244988" cy="4834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A</a:t>
            </a:r>
          </a:p>
          <a:p>
            <a:r>
              <a:rPr lang="en-US" sz="1800" dirty="0"/>
              <a:t>Rank agents (per route) by on-time delivery percentage .</a:t>
            </a:r>
          </a:p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 *, Rank() Over( Order by </a:t>
            </a:r>
          </a:p>
          <a:p>
            <a:pPr marL="0" indent="0">
              <a:buNone/>
            </a:pPr>
            <a:r>
              <a:rPr lang="en-US" sz="1800" dirty="0" err="1"/>
              <a:t>Average_on_time_delivery_percentage</a:t>
            </a:r>
            <a:r>
              <a:rPr lang="en-US" sz="1800" dirty="0"/>
              <a:t> desc) AS Ranking</a:t>
            </a:r>
          </a:p>
          <a:p>
            <a:pPr marL="0" indent="0">
              <a:buNone/>
            </a:pPr>
            <a:r>
              <a:rPr lang="en-US" sz="1800" dirty="0"/>
              <a:t> from ( Select </a:t>
            </a:r>
            <a:r>
              <a:rPr lang="en-US" sz="1800" dirty="0" err="1"/>
              <a:t>Route_ID</a:t>
            </a:r>
            <a:r>
              <a:rPr lang="en-US" sz="1800" dirty="0"/>
              <a:t> , avg(</a:t>
            </a:r>
            <a:r>
              <a:rPr lang="en-US" sz="1800" dirty="0" err="1"/>
              <a:t>On_Time_Percentage</a:t>
            </a:r>
            <a:r>
              <a:rPr lang="en-US" sz="1800" dirty="0"/>
              <a:t>) as </a:t>
            </a:r>
            <a:r>
              <a:rPr lang="en-US" sz="1800" dirty="0" err="1"/>
              <a:t>Average_on_time_delivery_percentage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deliveryagents</a:t>
            </a:r>
            <a:r>
              <a:rPr lang="en-US" sz="1800" dirty="0"/>
              <a:t> group by </a:t>
            </a:r>
            <a:r>
              <a:rPr lang="en-US" sz="1800" dirty="0" err="1"/>
              <a:t>Route_ID</a:t>
            </a:r>
            <a:r>
              <a:rPr lang="en-US" sz="1800" dirty="0"/>
              <a:t>) AS aggregation;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D5428B-B993-52D0-6079-9CA22B1DB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950" y="1322226"/>
            <a:ext cx="2872284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18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34D6D29-D4EA-2F84-9C79-3B8389056C79}"/>
              </a:ext>
            </a:extLst>
          </p:cNvPr>
          <p:cNvSpPr txBox="1">
            <a:spLocks/>
          </p:cNvSpPr>
          <p:nvPr/>
        </p:nvSpPr>
        <p:spPr>
          <a:xfrm>
            <a:off x="210403" y="-12773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5-DELIVERY AGENT PERFORMANCE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B6927E-94E6-8894-38B8-FEF5AC953CA6}"/>
              </a:ext>
            </a:extLst>
          </p:cNvPr>
          <p:cNvSpPr txBox="1">
            <a:spLocks/>
          </p:cNvSpPr>
          <p:nvPr/>
        </p:nvSpPr>
        <p:spPr>
          <a:xfrm>
            <a:off x="210403" y="1416191"/>
            <a:ext cx="4566313" cy="4834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B</a:t>
            </a:r>
          </a:p>
          <a:p>
            <a:r>
              <a:rPr lang="en-US" sz="1800" dirty="0"/>
              <a:t>Find agents with on-time % &lt; 80%</a:t>
            </a:r>
          </a:p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 *, Rank() Over( Order by </a:t>
            </a:r>
          </a:p>
          <a:p>
            <a:pPr marL="0" indent="0">
              <a:buNone/>
            </a:pPr>
            <a:r>
              <a:rPr lang="en-US" sz="1800" dirty="0" err="1"/>
              <a:t>Average_on_time_delivery_percentage</a:t>
            </a:r>
            <a:r>
              <a:rPr lang="en-US" sz="1800" dirty="0"/>
              <a:t> desc) AS Ranking</a:t>
            </a:r>
          </a:p>
          <a:p>
            <a:pPr marL="0" indent="0">
              <a:buNone/>
            </a:pPr>
            <a:r>
              <a:rPr lang="en-US" sz="1800" dirty="0"/>
              <a:t> from ( Select </a:t>
            </a:r>
            <a:r>
              <a:rPr lang="en-US" sz="1800" dirty="0" err="1"/>
              <a:t>Route_ID</a:t>
            </a:r>
            <a:r>
              <a:rPr lang="en-US" sz="1800" dirty="0"/>
              <a:t> , avg(</a:t>
            </a:r>
            <a:r>
              <a:rPr lang="en-US" sz="1800" dirty="0" err="1"/>
              <a:t>On_Time_Percentage</a:t>
            </a:r>
            <a:r>
              <a:rPr lang="en-US" sz="1800" dirty="0"/>
              <a:t>) as </a:t>
            </a:r>
            <a:r>
              <a:rPr lang="en-US" sz="1800" dirty="0" err="1"/>
              <a:t>Average_on_time_delivery_percentage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deliveryagents</a:t>
            </a:r>
            <a:r>
              <a:rPr lang="en-US" sz="1800" dirty="0"/>
              <a:t> group by </a:t>
            </a:r>
            <a:r>
              <a:rPr lang="en-US" sz="1800" dirty="0" err="1"/>
              <a:t>Route_ID</a:t>
            </a:r>
            <a:r>
              <a:rPr lang="en-US" sz="1800" dirty="0"/>
              <a:t>) AS aggregation;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D6014F-98D8-F1F1-F193-849787295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270" y="826161"/>
            <a:ext cx="7336327" cy="600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594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409637D-2FFD-0821-9545-7DCB46404682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5-DELIVERY AGENT PERFORMANCE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0808839-2F4B-4BFF-D46B-F813D52BB486}"/>
              </a:ext>
            </a:extLst>
          </p:cNvPr>
          <p:cNvSpPr txBox="1">
            <a:spLocks/>
          </p:cNvSpPr>
          <p:nvPr/>
        </p:nvSpPr>
        <p:spPr>
          <a:xfrm>
            <a:off x="210403" y="1416191"/>
            <a:ext cx="6244988" cy="5071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C</a:t>
            </a:r>
          </a:p>
          <a:p>
            <a:r>
              <a:rPr lang="en-US" sz="1800" dirty="0"/>
              <a:t>Compare average speed of top 5 vs bottom 5 agents using subqueries .</a:t>
            </a:r>
          </a:p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 'Top_5_average_speed' as Category, </a:t>
            </a:r>
          </a:p>
          <a:p>
            <a:pPr marL="0" indent="0">
              <a:buNone/>
            </a:pPr>
            <a:r>
              <a:rPr lang="en-US" sz="1800" dirty="0"/>
              <a:t>avg (</a:t>
            </a:r>
            <a:r>
              <a:rPr lang="en-US" sz="1800" dirty="0" err="1"/>
              <a:t>Avg_Speed_KM_HR</a:t>
            </a:r>
            <a:r>
              <a:rPr lang="en-US" sz="1800" dirty="0"/>
              <a:t>) as Top_5_avg </a:t>
            </a:r>
          </a:p>
          <a:p>
            <a:pPr marL="0" indent="0">
              <a:buNone/>
            </a:pPr>
            <a:r>
              <a:rPr lang="en-US" sz="1800" dirty="0"/>
              <a:t>from (Select </a:t>
            </a:r>
            <a:r>
              <a:rPr lang="en-US" sz="1800" dirty="0" err="1"/>
              <a:t>Agent_ID</a:t>
            </a:r>
            <a:r>
              <a:rPr lang="en-US" sz="1800" dirty="0"/>
              <a:t>, </a:t>
            </a:r>
            <a:r>
              <a:rPr lang="en-US" sz="1800" dirty="0" err="1"/>
              <a:t>Avg_Speed_KM_HR</a:t>
            </a:r>
            <a:r>
              <a:rPr lang="en-US" sz="1800" dirty="0"/>
              <a:t> from </a:t>
            </a:r>
          </a:p>
          <a:p>
            <a:pPr marL="0" indent="0">
              <a:buNone/>
            </a:pPr>
            <a:r>
              <a:rPr lang="en-US" sz="1800" dirty="0" err="1"/>
              <a:t>deliveryagents</a:t>
            </a:r>
            <a:r>
              <a:rPr lang="en-US" sz="1800" dirty="0"/>
              <a:t> order by </a:t>
            </a:r>
            <a:r>
              <a:rPr lang="en-US" sz="1800" dirty="0" err="1"/>
              <a:t>Avg_Speed_KM_HR</a:t>
            </a:r>
            <a:r>
              <a:rPr lang="en-US" sz="1800" dirty="0"/>
              <a:t> desc limit 5) AS </a:t>
            </a:r>
          </a:p>
          <a:p>
            <a:pPr marL="0" indent="0">
              <a:buNone/>
            </a:pPr>
            <a:r>
              <a:rPr lang="en-US" sz="1800" dirty="0"/>
              <a:t>Top_5 UNION ALL Select 'bottom_5_average_speed' as Category, avg(</a:t>
            </a:r>
            <a:r>
              <a:rPr lang="en-US" sz="1800" dirty="0" err="1"/>
              <a:t>Avg_Speed_KM_HR</a:t>
            </a:r>
            <a:r>
              <a:rPr lang="en-US" sz="1800" dirty="0"/>
              <a:t>) as Bottom_5</a:t>
            </a:r>
          </a:p>
          <a:p>
            <a:pPr marL="0" indent="0">
              <a:buNone/>
            </a:pPr>
            <a:r>
              <a:rPr lang="en-US" sz="1800" dirty="0"/>
              <a:t> from (Select </a:t>
            </a:r>
            <a:r>
              <a:rPr lang="en-US" sz="1800" dirty="0" err="1"/>
              <a:t>Agent_ID</a:t>
            </a:r>
            <a:r>
              <a:rPr lang="en-US" sz="1800" dirty="0"/>
              <a:t>, </a:t>
            </a:r>
            <a:r>
              <a:rPr lang="en-US" sz="1800" dirty="0" err="1"/>
              <a:t>Avg_Speed_KM_HR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deliveryagents</a:t>
            </a:r>
            <a:r>
              <a:rPr lang="en-US" sz="1800" dirty="0"/>
              <a:t> order by </a:t>
            </a:r>
            <a:r>
              <a:rPr lang="en-US" sz="1800" dirty="0" err="1"/>
              <a:t>Avg_Speed_KM_HR</a:t>
            </a:r>
            <a:r>
              <a:rPr lang="en-US" sz="1800" dirty="0"/>
              <a:t> </a:t>
            </a:r>
            <a:r>
              <a:rPr lang="en-US" sz="1800" dirty="0" err="1"/>
              <a:t>asc</a:t>
            </a:r>
            <a:r>
              <a:rPr lang="en-US" sz="1800" dirty="0"/>
              <a:t> limit 5) AS Bottom_5;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F3395C-A507-1F13-8408-537F366B4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189" y="3012122"/>
            <a:ext cx="4344371" cy="201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984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A6A7B9-087C-31B7-2F53-BF78C39552B5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6-Shipment Tracking Analytics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EC5D13D-52FD-2412-EC41-B20D488AE98A}"/>
              </a:ext>
            </a:extLst>
          </p:cNvPr>
          <p:cNvSpPr txBox="1">
            <a:spLocks/>
          </p:cNvSpPr>
          <p:nvPr/>
        </p:nvSpPr>
        <p:spPr>
          <a:xfrm>
            <a:off x="210403" y="1416191"/>
            <a:ext cx="6244988" cy="5071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A</a:t>
            </a:r>
          </a:p>
          <a:p>
            <a:r>
              <a:rPr lang="en-US" sz="1800" dirty="0"/>
              <a:t>For each order, list the last checkpoint and time. </a:t>
            </a:r>
          </a:p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 </a:t>
            </a:r>
            <a:r>
              <a:rPr lang="en-US" sz="1800" dirty="0" err="1"/>
              <a:t>Order_ID</a:t>
            </a:r>
            <a:r>
              <a:rPr lang="en-US" sz="1800" dirty="0"/>
              <a:t>, max(Checkpoint) as </a:t>
            </a:r>
            <a:r>
              <a:rPr lang="en-US" sz="1800" dirty="0" err="1"/>
              <a:t>Last_Checkpoint</a:t>
            </a:r>
            <a:r>
              <a:rPr lang="en-US" sz="1800" dirty="0"/>
              <a:t>, </a:t>
            </a:r>
          </a:p>
          <a:p>
            <a:pPr marL="0" indent="0">
              <a:buNone/>
            </a:pPr>
            <a:r>
              <a:rPr lang="en-US" sz="1800" dirty="0"/>
              <a:t>max(</a:t>
            </a:r>
            <a:r>
              <a:rPr lang="en-US" sz="1800" dirty="0" err="1"/>
              <a:t>Checkpoint_Time</a:t>
            </a:r>
            <a:r>
              <a:rPr lang="en-US" sz="1800" dirty="0"/>
              <a:t>) as </a:t>
            </a:r>
            <a:r>
              <a:rPr lang="en-US" sz="1800" dirty="0" err="1"/>
              <a:t>Last_Checkpoint_time</a:t>
            </a:r>
            <a:r>
              <a:rPr lang="en-US" sz="1800" dirty="0"/>
              <a:t> from </a:t>
            </a:r>
          </a:p>
          <a:p>
            <a:pPr marL="0" indent="0">
              <a:buNone/>
            </a:pPr>
            <a:r>
              <a:rPr lang="en-US" sz="1800" dirty="0" err="1"/>
              <a:t>shipmenttrackingtable</a:t>
            </a:r>
            <a:r>
              <a:rPr lang="en-US" sz="1800" dirty="0"/>
              <a:t> group by </a:t>
            </a:r>
            <a:r>
              <a:rPr lang="en-US" sz="1800" dirty="0" err="1"/>
              <a:t>Order_ID</a:t>
            </a:r>
            <a:r>
              <a:rPr lang="en-US" sz="18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797199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96D53-8821-B8F1-022A-B34AF8DE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2B789-747E-CC0F-431E-314B9123F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A531F9-A7A0-CBA9-9D03-09883D740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05" y="156706"/>
            <a:ext cx="3798397" cy="6127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5A6018-A51F-3D2B-7F27-4BF418382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793" y="44355"/>
            <a:ext cx="4312816" cy="65445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4E1208-9165-A379-63FF-6498FADF5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1190" y="156706"/>
            <a:ext cx="4191585" cy="65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4493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82748-2BFB-A7A9-6728-DBA1285FE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551B3-AD1C-B144-82D3-3E6A16A21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3CF359-F65C-76A7-00E5-A7943E91C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14" y="90021"/>
            <a:ext cx="3868932" cy="65636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2145FD-C6C3-7B44-509A-0B2312C3E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4769" y="294770"/>
            <a:ext cx="4181861" cy="6449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D83903-A199-0CBA-D62C-8B651B460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3701" y="246429"/>
            <a:ext cx="4667901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96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5306E-4630-0C76-726C-3028A2786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EFDCC-1478-B5E8-4AA7-6B0AA09A2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C05186-A153-A73B-CE84-508BDF913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0995"/>
            <a:ext cx="3981155" cy="64874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291CB4-001D-1467-D63D-C02B4D0FD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155" y="170995"/>
            <a:ext cx="3981155" cy="65160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D4B4E6-BBC4-CEEA-04CE-86031D346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310" y="199574"/>
            <a:ext cx="4195985" cy="648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083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C1C84-F68B-2102-F5CA-6A17EE28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838D3-FB66-5D34-7AB9-36FA2327F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19A6B2-21B6-3CB1-E05B-54228A591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773" y="365125"/>
            <a:ext cx="5499606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887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ACA846A-9A2B-0E5C-921F-D3DFAB45796B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6-Shipment Tracking Analytics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ACA5CE-0F14-A432-626B-7F0A5D56EDE2}"/>
              </a:ext>
            </a:extLst>
          </p:cNvPr>
          <p:cNvSpPr txBox="1">
            <a:spLocks/>
          </p:cNvSpPr>
          <p:nvPr/>
        </p:nvSpPr>
        <p:spPr>
          <a:xfrm>
            <a:off x="210403" y="1416191"/>
            <a:ext cx="6244988" cy="5071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B</a:t>
            </a:r>
          </a:p>
          <a:p>
            <a:r>
              <a:rPr lang="en-US" sz="1800" dirty="0"/>
              <a:t>Find the most common delay reasons (excluding None).</a:t>
            </a:r>
          </a:p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 max(</a:t>
            </a:r>
            <a:r>
              <a:rPr lang="en-US" sz="1800" dirty="0" err="1"/>
              <a:t>Delay_Reason</a:t>
            </a:r>
            <a:r>
              <a:rPr lang="en-US" sz="1800" dirty="0"/>
              <a:t>) as </a:t>
            </a:r>
            <a:r>
              <a:rPr lang="en-US" sz="1800" dirty="0" err="1"/>
              <a:t>Most_Common_Delay_reason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shipmenttrackingtable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en-US" sz="1800" dirty="0"/>
              <a:t>where </a:t>
            </a:r>
            <a:r>
              <a:rPr lang="en-US" sz="1800" dirty="0" err="1"/>
              <a:t>Delay_Reason</a:t>
            </a:r>
            <a:r>
              <a:rPr lang="en-US" sz="1800" dirty="0"/>
              <a:t> NOT IN ('None');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1EA287-944B-4216-39B6-33928C114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193" y="3195757"/>
            <a:ext cx="3491174" cy="1690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8779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46776A1-0484-13E3-95C1-E59F831D91FE}"/>
              </a:ext>
            </a:extLst>
          </p:cNvPr>
          <p:cNvSpPr txBox="1">
            <a:spLocks/>
          </p:cNvSpPr>
          <p:nvPr/>
        </p:nvSpPr>
        <p:spPr>
          <a:xfrm>
            <a:off x="210404" y="26959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6-Shipment Tracking Analytics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1FD927-45A0-5410-8204-9B7C9D448BDB}"/>
              </a:ext>
            </a:extLst>
          </p:cNvPr>
          <p:cNvSpPr txBox="1">
            <a:spLocks/>
          </p:cNvSpPr>
          <p:nvPr/>
        </p:nvSpPr>
        <p:spPr>
          <a:xfrm>
            <a:off x="210403" y="1416191"/>
            <a:ext cx="6244988" cy="5071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SUBTASK C</a:t>
            </a:r>
          </a:p>
          <a:p>
            <a:r>
              <a:rPr lang="en-US" sz="1800" dirty="0"/>
              <a:t>Identify orders with  &gt;2  delayed checkpoints </a:t>
            </a:r>
          </a:p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 </a:t>
            </a:r>
            <a:r>
              <a:rPr lang="en-US" sz="1800" dirty="0" err="1"/>
              <a:t>Order_ID</a:t>
            </a:r>
            <a:r>
              <a:rPr lang="en-US" sz="1800" dirty="0"/>
              <a:t>, count(</a:t>
            </a:r>
            <a:r>
              <a:rPr lang="en-US" sz="1800" dirty="0" err="1"/>
              <a:t>Delay_Reason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r>
              <a:rPr lang="en-US" sz="1800" dirty="0"/>
              <a:t>FROM </a:t>
            </a:r>
            <a:r>
              <a:rPr lang="en-US" sz="1800" dirty="0" err="1"/>
              <a:t>shipmenttrackingtable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WHERE </a:t>
            </a:r>
            <a:r>
              <a:rPr lang="en-US" sz="1800" dirty="0" err="1"/>
              <a:t>Delay_Reason</a:t>
            </a:r>
            <a:r>
              <a:rPr lang="en-US" sz="1800" dirty="0"/>
              <a:t> NOT IN ('None’)</a:t>
            </a:r>
          </a:p>
          <a:p>
            <a:pPr marL="0" indent="0">
              <a:buNone/>
            </a:pPr>
            <a:r>
              <a:rPr lang="en-US" sz="1800" dirty="0"/>
              <a:t>GROUP BY </a:t>
            </a:r>
            <a:r>
              <a:rPr lang="en-US" sz="1800" dirty="0" err="1"/>
              <a:t>Order_IDHAVING</a:t>
            </a:r>
            <a:r>
              <a:rPr lang="en-US" sz="1800" dirty="0"/>
              <a:t> COUNT(</a:t>
            </a:r>
            <a:r>
              <a:rPr lang="en-US" sz="1800" dirty="0" err="1"/>
              <a:t>Delay_Reason</a:t>
            </a:r>
            <a:r>
              <a:rPr lang="en-US" sz="1800" dirty="0"/>
              <a:t>) &gt; 2;</a:t>
            </a:r>
          </a:p>
        </p:txBody>
      </p:sp>
    </p:spTree>
    <p:extLst>
      <p:ext uri="{BB962C8B-B14F-4D97-AF65-F5344CB8AC3E}">
        <p14:creationId xmlns:p14="http://schemas.microsoft.com/office/powerpoint/2010/main" val="1516227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E9E24-CCE2-C927-3392-F4BCB92B4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6F824D6-C1A1-1469-2817-6D9AD94233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2777" y="365125"/>
            <a:ext cx="2856724" cy="64553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89D74A-A42C-F819-84B1-ED0ED1F90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27" y="0"/>
            <a:ext cx="2856724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1A84C4-4CEE-8393-9CB7-0EACE052E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081" y="37483"/>
            <a:ext cx="5058604" cy="678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6469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99887-1C50-CB83-4FCC-87DF57630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7691DCB-D0D5-8B51-FEC4-D592289A86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6070" y="150126"/>
            <a:ext cx="2653008" cy="64417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2A599D-F7B9-950D-19E8-5369F4D27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84" y="0"/>
            <a:ext cx="2821189" cy="65918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F99F0A-4F62-9357-9F9D-42C15E80F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4275" y="3616658"/>
            <a:ext cx="2419688" cy="287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108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65B2D9-8455-370B-819B-4C584EEF1274}"/>
              </a:ext>
            </a:extLst>
          </p:cNvPr>
          <p:cNvSpPr txBox="1">
            <a:spLocks/>
          </p:cNvSpPr>
          <p:nvPr/>
        </p:nvSpPr>
        <p:spPr>
          <a:xfrm>
            <a:off x="210403" y="-2882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7-Advanced KPI Reporting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565D78-DC08-FB55-C7E8-1B8DB3912D89}"/>
              </a:ext>
            </a:extLst>
          </p:cNvPr>
          <p:cNvSpPr txBox="1">
            <a:spLocks/>
          </p:cNvSpPr>
          <p:nvPr/>
        </p:nvSpPr>
        <p:spPr>
          <a:xfrm>
            <a:off x="210403" y="1416191"/>
            <a:ext cx="6244988" cy="5071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Calculate KPIs using SQL queries: </a:t>
            </a:r>
          </a:p>
          <a:p>
            <a:r>
              <a:rPr lang="en-US" sz="1800" dirty="0"/>
              <a:t>Average Delivery Delay per Region (</a:t>
            </a:r>
            <a:r>
              <a:rPr lang="en-US" sz="1800" dirty="0" err="1"/>
              <a:t>Start_Location</a:t>
            </a:r>
            <a:r>
              <a:rPr lang="en-US" sz="1800" dirty="0"/>
              <a:t>). </a:t>
            </a:r>
          </a:p>
          <a:p>
            <a:r>
              <a:rPr lang="en-US" sz="1800" dirty="0"/>
              <a:t>On-Time Delivery % = (Total On-Time Deliveries / Total Deliveries) * 100. </a:t>
            </a:r>
          </a:p>
          <a:p>
            <a:r>
              <a:rPr lang="en-US" sz="1800" dirty="0"/>
              <a:t>Average Traffic Delay per Route. 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620FE71-B3AB-FF2B-91EC-ADF0C612E0D1}"/>
              </a:ext>
            </a:extLst>
          </p:cNvPr>
          <p:cNvSpPr txBox="1">
            <a:spLocks/>
          </p:cNvSpPr>
          <p:nvPr/>
        </p:nvSpPr>
        <p:spPr>
          <a:xfrm>
            <a:off x="6244990" y="1296742"/>
            <a:ext cx="5947010" cy="5071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SQL QUERY</a:t>
            </a:r>
          </a:p>
          <a:p>
            <a:pPr marL="0" indent="0">
              <a:buNone/>
            </a:pPr>
            <a:r>
              <a:rPr lang="en-US" sz="1800" dirty="0"/>
              <a:t>SELECT     SUM(CASE WHEN </a:t>
            </a:r>
            <a:r>
              <a:rPr lang="en-US" sz="1800" dirty="0" err="1"/>
              <a:t>Delivery_Status</a:t>
            </a:r>
            <a:r>
              <a:rPr lang="en-US" sz="1800" dirty="0"/>
              <a:t> = 'On Time’ </a:t>
            </a:r>
          </a:p>
          <a:p>
            <a:pPr marL="0" indent="0">
              <a:buNone/>
            </a:pPr>
            <a:r>
              <a:rPr lang="en-US" sz="1800" dirty="0"/>
              <a:t>THEN 1 ELSE 0 END) AS </a:t>
            </a:r>
            <a:r>
              <a:rPr lang="en-US" sz="1800" dirty="0" err="1"/>
              <a:t>Ontime_deliveries</a:t>
            </a:r>
            <a:r>
              <a:rPr lang="en-US" sz="1800" dirty="0"/>
              <a:t>,    COUNT(*) AS </a:t>
            </a:r>
          </a:p>
          <a:p>
            <a:pPr marL="0" indent="0">
              <a:buNone/>
            </a:pPr>
            <a:r>
              <a:rPr lang="en-US" sz="1800" dirty="0" err="1"/>
              <a:t>Total_deliveries</a:t>
            </a:r>
            <a:r>
              <a:rPr lang="en-US" sz="1800" dirty="0"/>
              <a:t>,    ROUND(        SUM(CASE WHEN </a:t>
            </a:r>
          </a:p>
          <a:p>
            <a:pPr marL="0" indent="0">
              <a:buNone/>
            </a:pPr>
            <a:r>
              <a:rPr lang="en-US" sz="1800" dirty="0" err="1"/>
              <a:t>Delivery_Status</a:t>
            </a:r>
            <a:r>
              <a:rPr lang="en-US" sz="1800" dirty="0"/>
              <a:t> = 'On Time' THEN 1 ELSE 0 END) * 100.0 / </a:t>
            </a:r>
          </a:p>
          <a:p>
            <a:pPr marL="0" indent="0">
              <a:buNone/>
            </a:pPr>
            <a:r>
              <a:rPr lang="en-US" sz="1800" dirty="0"/>
              <a:t>COUNT(*),        2    ) AS </a:t>
            </a:r>
            <a:r>
              <a:rPr lang="en-US" sz="1800" dirty="0" err="1"/>
              <a:t>Ontime_delivery_percentage</a:t>
            </a:r>
            <a:r>
              <a:rPr lang="en-US" sz="1800" dirty="0"/>
              <a:t>    FROM orders;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Select </a:t>
            </a:r>
            <a:r>
              <a:rPr lang="en-US" sz="1800" dirty="0" err="1"/>
              <a:t>Route_ID</a:t>
            </a:r>
            <a:r>
              <a:rPr lang="en-US" sz="1800" dirty="0"/>
              <a:t>, Count( Case when </a:t>
            </a:r>
            <a:r>
              <a:rPr lang="en-US" sz="1800" dirty="0" err="1"/>
              <a:t>Delivery_Status</a:t>
            </a:r>
            <a:r>
              <a:rPr lang="en-US" sz="1800" dirty="0"/>
              <a:t> = </a:t>
            </a:r>
          </a:p>
          <a:p>
            <a:pPr marL="0" indent="0">
              <a:buNone/>
            </a:pPr>
            <a:r>
              <a:rPr lang="en-US" sz="1800" dirty="0"/>
              <a:t>‘Delayed' then 1 else 0 end ) as </a:t>
            </a:r>
            <a:r>
              <a:rPr lang="en-US" sz="1800" dirty="0" err="1"/>
              <a:t>Avg_delay_times</a:t>
            </a:r>
            <a:r>
              <a:rPr lang="en-US" sz="1800" dirty="0"/>
              <a:t> from orders </a:t>
            </a:r>
          </a:p>
          <a:p>
            <a:pPr marL="0" indent="0">
              <a:buNone/>
            </a:pPr>
            <a:r>
              <a:rPr lang="en-US" sz="1800" dirty="0"/>
              <a:t>group by </a:t>
            </a:r>
            <a:r>
              <a:rPr lang="en-US" sz="1800" dirty="0" err="1"/>
              <a:t>Route_ID</a:t>
            </a:r>
            <a:r>
              <a:rPr lang="en-US" sz="1800" dirty="0"/>
              <a:t>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C8519C-0075-B12B-DAF2-8359C5DB1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03" y="3671249"/>
            <a:ext cx="6034587" cy="113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7540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906EE-5BB9-E73A-E25B-E165E756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688CC-3FA1-3E56-7CA6-B6F8DA2A5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3D7852-BB0F-A15B-9640-2D94DA7D8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645" y="136479"/>
            <a:ext cx="4203510" cy="672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733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8BB09-31DD-46FC-C098-8894F83A8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 of video</a:t>
            </a:r>
          </a:p>
          <a:p>
            <a:r>
              <a:rPr lang="en-US" dirty="0"/>
              <a:t>https://www.loom.com/share/665283b7d7d24e068fbc51a895a0f4af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D369A0B-80E2-D1BD-218B-B7C8C7D5FDEB}"/>
              </a:ext>
            </a:extLst>
          </p:cNvPr>
          <p:cNvSpPr txBox="1">
            <a:spLocks/>
          </p:cNvSpPr>
          <p:nvPr/>
        </p:nvSpPr>
        <p:spPr>
          <a:xfrm>
            <a:off x="183108" y="365125"/>
            <a:ext cx="115949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Task 8-PPT Presentation and Video Submission </a:t>
            </a:r>
          </a:p>
        </p:txBody>
      </p:sp>
    </p:spTree>
    <p:extLst>
      <p:ext uri="{BB962C8B-B14F-4D97-AF65-F5344CB8AC3E}">
        <p14:creationId xmlns:p14="http://schemas.microsoft.com/office/powerpoint/2010/main" val="3543985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2589</TotalTime>
  <Words>1917</Words>
  <Application>Microsoft Office PowerPoint</Application>
  <PresentationFormat>Widescreen</PresentationFormat>
  <Paragraphs>210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SQL -PROJECT</vt:lpstr>
      <vt:lpstr>Task 1-Data Cleaning &amp; Preparation</vt:lpstr>
      <vt:lpstr>Task 1-Data Cleaning &amp; Preparation</vt:lpstr>
      <vt:lpstr>PowerPoint Presentation</vt:lpstr>
      <vt:lpstr>PowerPoint Presentation</vt:lpstr>
      <vt:lpstr>Task 2-Delivery Delay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Sanika Balaji</dc:creator>
  <cp:lastModifiedBy>Sanika Balaji</cp:lastModifiedBy>
  <cp:revision>3</cp:revision>
  <dcterms:created xsi:type="dcterms:W3CDTF">2025-11-01T08:55:12Z</dcterms:created>
  <dcterms:modified xsi:type="dcterms:W3CDTF">2025-11-04T18:36:55Z</dcterms:modified>
</cp:coreProperties>
</file>